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 i="0">
                <a:solidFill>
                  <a:srgbClr val="9EC5F4"/>
                </a:solidFill>
                <a:latin typeface="Calibri"/>
              </a:rPr>
              <a:t>NORTHBRIDGE ENGINEERING PENSION SCHEME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Investment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 i="0">
                <a:solidFill>
                  <a:srgbClr val="DCE6F2"/>
                </a:solidFill>
                <a:latin typeface="Calibri"/>
              </a:rPr>
              <a:t>Quarter to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B7C6D8"/>
                </a:solidFill>
                <a:latin typeface="Calibri"/>
              </a:rPr>
              <a:t>Prepared for Trustees (summary)  ·  Generated by Ledgerline from reconciled source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Headlines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QUARTER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088538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libri"/>
              </a:rPr>
              <a:t>4.06%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08853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-0.25% vs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1578" y="178308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FUNDING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286000"/>
            <a:ext cx="3088538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libri"/>
              </a:rPr>
              <a:t>93.40%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5916" y="178308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HEDGE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286000"/>
            <a:ext cx="3088538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libri"/>
              </a:rPr>
              <a:t>81.96%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1B1B"/>
                </a:solidFill>
                <a:latin typeface="Calibri"/>
              </a:rPr>
              <a:t>Over the quarter the Scheme's assets returned 4.06%, behind the benchmark return of 4.32% by 0.25%. Over one year the fund returned 11.76% against a benchmark of 12.44%, underperforming by 0.68%. Relative to benchmark, UK Property was the strongest mandate this quarter, ahead by 0.43%, while Diversified Growth lagged by 1.45%. Attribution over one year shows asset allocation added 0.21% and manager selection detracted 0.79%. The funding ratio stands at 93.40%, a deficit of £108.6m, and the interest-rate hedge covers 81.96% of the liabilities' sensitivity to rates. In our stress tests, a fall of one percentage point in interest rates would reduce the funding ratio by 3.18 percentage points, while a fall of a fifth in growth asset values would reduce it by 10.91 percentage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 i="1">
                <a:solidFill>
                  <a:srgbClr val="0B7A3E"/>
                </a:solidFill>
                <a:latin typeface="Calibri"/>
              </a:rPr>
              <a:t>✓ Commentary generated from the computed figures and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944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1641973"/>
                <a:gridCol w="1641973"/>
                <a:gridCol w="1641973"/>
                <a:gridCol w="1641973"/>
                <a:gridCol w="164197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Mandate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bmk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 year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bmk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Global Equity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£429.0m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10.26%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+0.41%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26.16%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-2.08%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Emerging Markets Equity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£155.2m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-3.11%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-0.74%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15.08%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-5.84%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Diversified Growth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£156.3m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3.49%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-1.45%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10.35%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-2.10%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UK Property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£156.6m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1.41%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+0.43%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14.41%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+1.91%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Buy &amp; Maintain Credit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£216.7m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2.79%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+0.16%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4.66%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+1.72%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Liability Driven Investment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£422.9m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3.36%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+0.17%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1.25%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-0.06%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Total fund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£1.54bn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4.06%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-0.25%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11.76%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-0.68%</a:t>
                      </a:r>
                    </a:p>
                  </a:txBody>
                  <a:tcPr marL="73152" marR="73152" marT="36576" marB="36576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 i="1">
                <a:solidFill>
                  <a:srgbClr val="8A8984"/>
                </a:solidFill>
                <a:latin typeface="Calibri"/>
              </a:rPr>
              <a:t>Returns are time-weighted (Modified Dietz monthly, chain-linked); periods over one year are annualised. 'vs bmk' = fund return minus benchmark return.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Benchmark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9441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766"/>
                <a:gridCol w="3328324"/>
                <a:gridCol w="332832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 year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Global equity index (GBP)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9.86%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28.23%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EM equity index (GBP)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-2.37%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20.92%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SONIA + 4% p.a.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4.94%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12.45%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UK property index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0.98%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12.50%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Sterling corporate bond 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2.64%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2.95%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Scheme liability benchmark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3.18%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1.31%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Total benchmark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4.32%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12.44%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036003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57880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FUNDING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578803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93.40%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3243" y="1554480"/>
            <a:ext cx="2036003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1843" y="1783080"/>
            <a:ext cx="157880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LIABILITIES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1843" y="2286000"/>
            <a:ext cx="1578803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£1.65bn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7846" y="1554480"/>
            <a:ext cx="2036003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6446" y="1783080"/>
            <a:ext cx="157880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SURPLUS / (DEFICIT)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46" y="2286000"/>
            <a:ext cx="1578803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-£108.6m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449" y="1554480"/>
            <a:ext cx="2036003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049" y="1783080"/>
            <a:ext cx="157880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HEDGE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049" y="2286000"/>
            <a:ext cx="1578803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81.96%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7052" y="1554480"/>
            <a:ext cx="2036003" cy="21031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35652" y="1783080"/>
            <a:ext cx="157880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 i="0">
                <a:solidFill>
                  <a:srgbClr val="52514E"/>
                </a:solidFill>
                <a:latin typeface="Calibri"/>
              </a:rPr>
              <a:t>LIABILITY 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5652" y="2286000"/>
            <a:ext cx="1578803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15.6 yrs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Stress tests: change in funding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94415" cy="4622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 i="0">
                <a:solidFill>
                  <a:srgbClr val="17324D"/>
                </a:solidFill>
                <a:latin typeface="Calibri"/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8A8984"/>
                </a:solidFill>
                <a:latin typeface="Calibri"/>
              </a:rPr>
              <a:t>Northbridge Engineering Pension Scheme  |  Investment Summary  |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8A8984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944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766"/>
                <a:gridCol w="3328324"/>
                <a:gridCol w="332832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Funding ratio after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3152" marR="73152" marT="36576" marB="36576" anchor="ctr"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Rates -100bp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90.22%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-3.18%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Rates +100bp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93.64%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B7A3E"/>
                          </a:solidFill>
                          <a:latin typeface="Calibri"/>
                        </a:rPr>
                        <a:t>+0.24%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Equities -20%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82.49%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-10.91%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Equities -20% &amp; rates -50bp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82.08%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-11.32%</a:t>
                      </a:r>
                    </a:p>
                  </a:txBody>
                  <a:tcPr marL="73152" marR="73152" marT="36576" marB="36576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 i="1">
                <a:solidFill>
                  <a:srgbClr val="8A8984"/>
                </a:solidFill>
                <a:latin typeface="Calibri"/>
              </a:rPr>
              <a:t>Liabilities are revalued on a shifted zero curve bootstrapped from government par yields; rate-sensitive assets move by -duration x shift; growth assets take the equity shock.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