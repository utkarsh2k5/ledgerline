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73152"/>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058400" cy="457200"/>
          </a:xfrm>
          <a:prstGeom prst="rect">
            <a:avLst/>
          </a:prstGeom>
          <a:noFill/>
        </p:spPr>
        <p:txBody>
          <a:bodyPr wrap="square" anchor="t" lIns="0" rIns="0">
            <a:spAutoFit/>
          </a:bodyPr>
          <a:lstStyle/>
          <a:p>
            <a:pPr algn="l"/>
            <a:r>
              <a:rPr sz="1600" b="1" i="0">
                <a:solidFill>
                  <a:srgbClr val="9EC5F4"/>
                </a:solidFill>
                <a:latin typeface="Calibri"/>
              </a:rPr>
              <a:t>NORTHBRIDGE ENGINEERING PENSION SCHEME</a:t>
            </a:r>
          </a:p>
        </p:txBody>
      </p:sp>
      <p:sp>
        <p:nvSpPr>
          <p:cNvPr id="5" name="TextBox 4"/>
          <p:cNvSpPr txBox="1"/>
          <p:nvPr/>
        </p:nvSpPr>
        <p:spPr>
          <a:xfrm>
            <a:off x="822960" y="1920240"/>
            <a:ext cx="10515600" cy="1188720"/>
          </a:xfrm>
          <a:prstGeom prst="rect">
            <a:avLst/>
          </a:prstGeom>
          <a:noFill/>
        </p:spPr>
        <p:txBody>
          <a:bodyPr wrap="square" anchor="t" lIns="0" rIns="0">
            <a:spAutoFit/>
          </a:bodyPr>
          <a:lstStyle/>
          <a:p>
            <a:pPr algn="l"/>
            <a:r>
              <a:rPr sz="4400" b="1" i="0">
                <a:solidFill>
                  <a:srgbClr val="FFFFFF"/>
                </a:solidFill>
                <a:latin typeface="Calibri"/>
              </a:rPr>
              <a:t>Quarterly Investment Report</a:t>
            </a:r>
          </a:p>
        </p:txBody>
      </p:sp>
      <p:sp>
        <p:nvSpPr>
          <p:cNvPr id="6" name="TextBox 5"/>
          <p:cNvSpPr txBox="1"/>
          <p:nvPr/>
        </p:nvSpPr>
        <p:spPr>
          <a:xfrm>
            <a:off x="822960" y="3520440"/>
            <a:ext cx="10058400" cy="548640"/>
          </a:xfrm>
          <a:prstGeom prst="rect">
            <a:avLst/>
          </a:prstGeom>
          <a:noFill/>
        </p:spPr>
        <p:txBody>
          <a:bodyPr wrap="square" anchor="t" lIns="0" rIns="0">
            <a:spAutoFit/>
          </a:bodyPr>
          <a:lstStyle/>
          <a:p>
            <a:pPr algn="l"/>
            <a:r>
              <a:rPr sz="2000" b="0" i="0">
                <a:solidFill>
                  <a:srgbClr val="DCE6F2"/>
                </a:solidFill>
                <a:latin typeface="Calibri"/>
              </a:rPr>
              <a:t>Quarter to 30 September 2026</a:t>
            </a:r>
          </a:p>
        </p:txBody>
      </p:sp>
      <p:sp>
        <p:nvSpPr>
          <p:cNvPr id="7" name="TextBox 6"/>
          <p:cNvSpPr txBox="1"/>
          <p:nvPr/>
        </p:nvSpPr>
        <p:spPr>
          <a:xfrm>
            <a:off x="822960" y="5852160"/>
            <a:ext cx="10058400" cy="365760"/>
          </a:xfrm>
          <a:prstGeom prst="rect">
            <a:avLst/>
          </a:prstGeom>
          <a:noFill/>
        </p:spPr>
        <p:txBody>
          <a:bodyPr wrap="square" anchor="t" lIns="0" rIns="0">
            <a:spAutoFit/>
          </a:bodyPr>
          <a:lstStyle/>
          <a:p>
            <a:pPr algn="l"/>
            <a:r>
              <a:rPr sz="1200" b="0" i="0">
                <a:solidFill>
                  <a:srgbClr val="B7C6D8"/>
                </a:solidFill>
                <a:latin typeface="Calibri"/>
              </a:rPr>
              <a:t>Prepared for Trustees  ·  Generated by Ledgerline from reconciled source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At a glance</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2</a:t>
            </a:r>
          </a:p>
        </p:txBody>
      </p:sp>
      <p:sp>
        <p:nvSpPr>
          <p:cNvPr id="6" name="Rounded Rectangle 5"/>
          <p:cNvSpPr/>
          <p:nvPr/>
        </p:nvSpPr>
        <p:spPr>
          <a:xfrm>
            <a:off x="548640"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578803" cy="548640"/>
          </a:xfrm>
          <a:prstGeom prst="rect">
            <a:avLst/>
          </a:prstGeom>
          <a:noFill/>
        </p:spPr>
        <p:txBody>
          <a:bodyPr wrap="square" anchor="t" lIns="0" rIns="0">
            <a:spAutoFit/>
          </a:bodyPr>
          <a:lstStyle/>
          <a:p>
            <a:pPr algn="l"/>
            <a:r>
              <a:rPr sz="1100" b="1" i="0">
                <a:solidFill>
                  <a:srgbClr val="52514E"/>
                </a:solidFill>
                <a:latin typeface="Calibri"/>
              </a:rPr>
              <a:t>TOTAL ASSETS</a:t>
            </a:r>
          </a:p>
        </p:txBody>
      </p:sp>
      <p:sp>
        <p:nvSpPr>
          <p:cNvPr id="8" name="TextBox 7"/>
          <p:cNvSpPr txBox="1"/>
          <p:nvPr/>
        </p:nvSpPr>
        <p:spPr>
          <a:xfrm>
            <a:off x="777240" y="2286000"/>
            <a:ext cx="1578803" cy="822960"/>
          </a:xfrm>
          <a:prstGeom prst="rect">
            <a:avLst/>
          </a:prstGeom>
          <a:noFill/>
        </p:spPr>
        <p:txBody>
          <a:bodyPr wrap="square" anchor="t" lIns="0" rIns="0">
            <a:spAutoFit/>
          </a:bodyPr>
          <a:lstStyle/>
          <a:p>
            <a:pPr algn="l"/>
            <a:r>
              <a:rPr sz="2600" b="1" i="0">
                <a:solidFill>
                  <a:srgbClr val="17324D"/>
                </a:solidFill>
                <a:latin typeface="Calibri"/>
              </a:rPr>
              <a:t>£1.54bn</a:t>
            </a:r>
          </a:p>
        </p:txBody>
      </p:sp>
      <p:sp>
        <p:nvSpPr>
          <p:cNvPr id="9" name="Rounded Rectangle 8"/>
          <p:cNvSpPr/>
          <p:nvPr/>
        </p:nvSpPr>
        <p:spPr>
          <a:xfrm>
            <a:off x="2813243"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1843" y="1783080"/>
            <a:ext cx="1578803" cy="548640"/>
          </a:xfrm>
          <a:prstGeom prst="rect">
            <a:avLst/>
          </a:prstGeom>
          <a:noFill/>
        </p:spPr>
        <p:txBody>
          <a:bodyPr wrap="square" anchor="t" lIns="0" rIns="0">
            <a:spAutoFit/>
          </a:bodyPr>
          <a:lstStyle/>
          <a:p>
            <a:pPr algn="l"/>
            <a:r>
              <a:rPr sz="1100" b="1" i="0">
                <a:solidFill>
                  <a:srgbClr val="52514E"/>
                </a:solidFill>
                <a:latin typeface="Calibri"/>
              </a:rPr>
              <a:t>RETURN (QUARTER)</a:t>
            </a:r>
          </a:p>
        </p:txBody>
      </p:sp>
      <p:sp>
        <p:nvSpPr>
          <p:cNvPr id="11" name="TextBox 10"/>
          <p:cNvSpPr txBox="1"/>
          <p:nvPr/>
        </p:nvSpPr>
        <p:spPr>
          <a:xfrm>
            <a:off x="3041843" y="2286000"/>
            <a:ext cx="1578803" cy="822960"/>
          </a:xfrm>
          <a:prstGeom prst="rect">
            <a:avLst/>
          </a:prstGeom>
          <a:noFill/>
        </p:spPr>
        <p:txBody>
          <a:bodyPr wrap="square" anchor="t" lIns="0" rIns="0">
            <a:spAutoFit/>
          </a:bodyPr>
          <a:lstStyle/>
          <a:p>
            <a:pPr algn="l"/>
            <a:r>
              <a:rPr sz="2600" b="1" i="0">
                <a:solidFill>
                  <a:srgbClr val="17324D"/>
                </a:solidFill>
                <a:latin typeface="Calibri"/>
              </a:rPr>
              <a:t>4.06%</a:t>
            </a:r>
          </a:p>
        </p:txBody>
      </p:sp>
      <p:sp>
        <p:nvSpPr>
          <p:cNvPr id="12" name="TextBox 11"/>
          <p:cNvSpPr txBox="1"/>
          <p:nvPr/>
        </p:nvSpPr>
        <p:spPr>
          <a:xfrm>
            <a:off x="3041843" y="3063240"/>
            <a:ext cx="1578803" cy="457200"/>
          </a:xfrm>
          <a:prstGeom prst="rect">
            <a:avLst/>
          </a:prstGeom>
          <a:noFill/>
        </p:spPr>
        <p:txBody>
          <a:bodyPr wrap="square" anchor="t" lIns="0" rIns="0">
            <a:spAutoFit/>
          </a:bodyPr>
          <a:lstStyle/>
          <a:p>
            <a:pPr algn="l"/>
            <a:r>
              <a:rPr sz="1200" b="0" i="0">
                <a:solidFill>
                  <a:srgbClr val="C0392B"/>
                </a:solidFill>
                <a:latin typeface="Calibri"/>
              </a:rPr>
              <a:t>-0.25% vs benchmark</a:t>
            </a:r>
          </a:p>
        </p:txBody>
      </p:sp>
      <p:sp>
        <p:nvSpPr>
          <p:cNvPr id="13" name="Rounded Rectangle 12"/>
          <p:cNvSpPr/>
          <p:nvPr/>
        </p:nvSpPr>
        <p:spPr>
          <a:xfrm>
            <a:off x="5077846"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6446" y="1783080"/>
            <a:ext cx="1578803" cy="548640"/>
          </a:xfrm>
          <a:prstGeom prst="rect">
            <a:avLst/>
          </a:prstGeom>
          <a:noFill/>
        </p:spPr>
        <p:txBody>
          <a:bodyPr wrap="square" anchor="t" lIns="0" rIns="0">
            <a:spAutoFit/>
          </a:bodyPr>
          <a:lstStyle/>
          <a:p>
            <a:pPr algn="l"/>
            <a:r>
              <a:rPr sz="1100" b="1" i="0">
                <a:solidFill>
                  <a:srgbClr val="52514E"/>
                </a:solidFill>
                <a:latin typeface="Calibri"/>
              </a:rPr>
              <a:t>RETURN (1 YEAR)</a:t>
            </a:r>
          </a:p>
        </p:txBody>
      </p:sp>
      <p:sp>
        <p:nvSpPr>
          <p:cNvPr id="15" name="TextBox 14"/>
          <p:cNvSpPr txBox="1"/>
          <p:nvPr/>
        </p:nvSpPr>
        <p:spPr>
          <a:xfrm>
            <a:off x="5306446" y="2286000"/>
            <a:ext cx="1578803" cy="822960"/>
          </a:xfrm>
          <a:prstGeom prst="rect">
            <a:avLst/>
          </a:prstGeom>
          <a:noFill/>
        </p:spPr>
        <p:txBody>
          <a:bodyPr wrap="square" anchor="t" lIns="0" rIns="0">
            <a:spAutoFit/>
          </a:bodyPr>
          <a:lstStyle/>
          <a:p>
            <a:pPr algn="l"/>
            <a:r>
              <a:rPr sz="2600" b="1" i="0">
                <a:solidFill>
                  <a:srgbClr val="17324D"/>
                </a:solidFill>
                <a:latin typeface="Calibri"/>
              </a:rPr>
              <a:t>11.76%</a:t>
            </a:r>
          </a:p>
        </p:txBody>
      </p:sp>
      <p:sp>
        <p:nvSpPr>
          <p:cNvPr id="16" name="TextBox 15"/>
          <p:cNvSpPr txBox="1"/>
          <p:nvPr/>
        </p:nvSpPr>
        <p:spPr>
          <a:xfrm>
            <a:off x="5306446" y="3063240"/>
            <a:ext cx="1578803" cy="457200"/>
          </a:xfrm>
          <a:prstGeom prst="rect">
            <a:avLst/>
          </a:prstGeom>
          <a:noFill/>
        </p:spPr>
        <p:txBody>
          <a:bodyPr wrap="square" anchor="t" lIns="0" rIns="0">
            <a:spAutoFit/>
          </a:bodyPr>
          <a:lstStyle/>
          <a:p>
            <a:pPr algn="l"/>
            <a:r>
              <a:rPr sz="1200" b="0" i="0">
                <a:solidFill>
                  <a:srgbClr val="C0392B"/>
                </a:solidFill>
                <a:latin typeface="Calibri"/>
              </a:rPr>
              <a:t>-0.68% vs benchmark</a:t>
            </a:r>
          </a:p>
        </p:txBody>
      </p:sp>
      <p:sp>
        <p:nvSpPr>
          <p:cNvPr id="17" name="Rounded Rectangle 16"/>
          <p:cNvSpPr/>
          <p:nvPr/>
        </p:nvSpPr>
        <p:spPr>
          <a:xfrm>
            <a:off x="7342449"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049" y="1783080"/>
            <a:ext cx="1578803" cy="548640"/>
          </a:xfrm>
          <a:prstGeom prst="rect">
            <a:avLst/>
          </a:prstGeom>
          <a:noFill/>
        </p:spPr>
        <p:txBody>
          <a:bodyPr wrap="square" anchor="t" lIns="0" rIns="0">
            <a:spAutoFit/>
          </a:bodyPr>
          <a:lstStyle/>
          <a:p>
            <a:pPr algn="l"/>
            <a:r>
              <a:rPr sz="1100" b="1" i="0">
                <a:solidFill>
                  <a:srgbClr val="52514E"/>
                </a:solidFill>
                <a:latin typeface="Calibri"/>
              </a:rPr>
              <a:t>FUNDING RATIO</a:t>
            </a:r>
          </a:p>
        </p:txBody>
      </p:sp>
      <p:sp>
        <p:nvSpPr>
          <p:cNvPr id="19" name="TextBox 18"/>
          <p:cNvSpPr txBox="1"/>
          <p:nvPr/>
        </p:nvSpPr>
        <p:spPr>
          <a:xfrm>
            <a:off x="7571049" y="2286000"/>
            <a:ext cx="1578803" cy="822960"/>
          </a:xfrm>
          <a:prstGeom prst="rect">
            <a:avLst/>
          </a:prstGeom>
          <a:noFill/>
        </p:spPr>
        <p:txBody>
          <a:bodyPr wrap="square" anchor="t" lIns="0" rIns="0">
            <a:spAutoFit/>
          </a:bodyPr>
          <a:lstStyle/>
          <a:p>
            <a:pPr algn="l"/>
            <a:r>
              <a:rPr sz="2600" b="1" i="0">
                <a:solidFill>
                  <a:srgbClr val="17324D"/>
                </a:solidFill>
                <a:latin typeface="Calibri"/>
              </a:rPr>
              <a:t>93.40%</a:t>
            </a:r>
          </a:p>
        </p:txBody>
      </p:sp>
      <p:sp>
        <p:nvSpPr>
          <p:cNvPr id="20" name="TextBox 19"/>
          <p:cNvSpPr txBox="1"/>
          <p:nvPr/>
        </p:nvSpPr>
        <p:spPr>
          <a:xfrm>
            <a:off x="7571049" y="3063240"/>
            <a:ext cx="1578803" cy="457200"/>
          </a:xfrm>
          <a:prstGeom prst="rect">
            <a:avLst/>
          </a:prstGeom>
          <a:noFill/>
        </p:spPr>
        <p:txBody>
          <a:bodyPr wrap="square" anchor="t" lIns="0" rIns="0">
            <a:spAutoFit/>
          </a:bodyPr>
          <a:lstStyle/>
          <a:p>
            <a:pPr algn="l"/>
            <a:r>
              <a:rPr sz="1200" b="0" i="0">
                <a:solidFill>
                  <a:srgbClr val="C0392B"/>
                </a:solidFill>
                <a:latin typeface="Calibri"/>
              </a:rPr>
              <a:t>£108.6m deficit</a:t>
            </a:r>
          </a:p>
        </p:txBody>
      </p:sp>
      <p:sp>
        <p:nvSpPr>
          <p:cNvPr id="21" name="Rounded Rectangle 20"/>
          <p:cNvSpPr/>
          <p:nvPr/>
        </p:nvSpPr>
        <p:spPr>
          <a:xfrm>
            <a:off x="9607052"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35652" y="1783080"/>
            <a:ext cx="1578803" cy="548640"/>
          </a:xfrm>
          <a:prstGeom prst="rect">
            <a:avLst/>
          </a:prstGeom>
          <a:noFill/>
        </p:spPr>
        <p:txBody>
          <a:bodyPr wrap="square" anchor="t" lIns="0" rIns="0">
            <a:spAutoFit/>
          </a:bodyPr>
          <a:lstStyle/>
          <a:p>
            <a:pPr algn="l"/>
            <a:r>
              <a:rPr sz="1100" b="1" i="0">
                <a:solidFill>
                  <a:srgbClr val="52514E"/>
                </a:solidFill>
                <a:latin typeface="Calibri"/>
              </a:rPr>
              <a:t>INTEREST-RATE HEDGE</a:t>
            </a:r>
          </a:p>
        </p:txBody>
      </p:sp>
      <p:sp>
        <p:nvSpPr>
          <p:cNvPr id="23" name="TextBox 22"/>
          <p:cNvSpPr txBox="1"/>
          <p:nvPr/>
        </p:nvSpPr>
        <p:spPr>
          <a:xfrm>
            <a:off x="9835652" y="2286000"/>
            <a:ext cx="1578803" cy="822960"/>
          </a:xfrm>
          <a:prstGeom prst="rect">
            <a:avLst/>
          </a:prstGeom>
          <a:noFill/>
        </p:spPr>
        <p:txBody>
          <a:bodyPr wrap="square" anchor="t" lIns="0" rIns="0">
            <a:spAutoFit/>
          </a:bodyPr>
          <a:lstStyle/>
          <a:p>
            <a:pPr algn="l"/>
            <a:r>
              <a:rPr sz="2600" b="1" i="0">
                <a:solidFill>
                  <a:srgbClr val="17324D"/>
                </a:solidFill>
                <a:latin typeface="Calibri"/>
              </a:rPr>
              <a:t>81.96%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Investment commentary</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3</a:t>
            </a:r>
          </a:p>
        </p:txBody>
      </p:sp>
      <p:sp>
        <p:nvSpPr>
          <p:cNvPr id="6" name="TextBox 5"/>
          <p:cNvSpPr txBox="1"/>
          <p:nvPr/>
        </p:nvSpPr>
        <p:spPr>
          <a:xfrm>
            <a:off x="548640" y="1280160"/>
            <a:ext cx="11094415" cy="4480560"/>
          </a:xfrm>
          <a:prstGeom prst="rect">
            <a:avLst/>
          </a:prstGeom>
          <a:noFill/>
        </p:spPr>
        <p:txBody>
          <a:bodyPr wrap="square" anchor="t" lIns="0" rIns="0">
            <a:spAutoFit/>
          </a:bodyPr>
          <a:lstStyle/>
          <a:p>
            <a:pPr algn="l">
              <a:lnSpc>
                <a:spcPct val="125000"/>
              </a:lnSpc>
            </a:pPr>
            <a:r>
              <a:rPr sz="1700" b="0" i="0">
                <a:solidFill>
                  <a:srgbClr val="1B1B1B"/>
                </a:solidFill>
                <a:latin typeface="Calibri"/>
              </a:rPr>
              <a:t>Over the quarter the Scheme's assets returned 4.06%, behind the benchmark return of 4.32% by 0.25%. Over one year the fund returned 11.76% against a benchmark of 12.44%, underperforming by 0.68%. Relative to benchmark, UK Property was the strongest mandate this quarter, ahead by 0.43%, while Diversified Growth lagged by 1.45%. Attribution over one year shows asset allocation added 0.21% and manager selection detracted 0.79%. The funding ratio stands at 93.40%, a deficit of £108.6m, and the interest-rate hedge covers 81.96% of the liabilities' sensitivity to rates. In our stress tests, a fall of one percentage point in interest rates would reduce the funding ratio by 3.18 percentage points, while a fall of a fifth in growth asset values would reduce it by 10.91 percentage points.</a:t>
            </a:r>
          </a:p>
        </p:txBody>
      </p:sp>
      <p:sp>
        <p:nvSpPr>
          <p:cNvPr id="7" name="TextBox 6"/>
          <p:cNvSpPr txBox="1"/>
          <p:nvPr/>
        </p:nvSpPr>
        <p:spPr>
          <a:xfrm>
            <a:off x="548640" y="5852160"/>
            <a:ext cx="11094415" cy="457200"/>
          </a:xfrm>
          <a:prstGeom prst="rect">
            <a:avLst/>
          </a:prstGeom>
          <a:noFill/>
        </p:spPr>
        <p:txBody>
          <a:bodyPr wrap="square" anchor="t" lIns="0" rIns="0">
            <a:spAutoFit/>
          </a:bodyPr>
          <a:lstStyle/>
          <a:p>
            <a:pPr algn="l"/>
            <a:r>
              <a:rPr sz="1100" b="0" i="1">
                <a:solidFill>
                  <a:srgbClr val="0B7A3E"/>
                </a:solidFill>
                <a:latin typeface="Calibri"/>
              </a:rPr>
              <a:t>✓ Commentary generated from the computed figures and verified.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Performance by mandate</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4</a:t>
            </a:r>
          </a:p>
        </p:txBody>
      </p:sp>
      <p:graphicFrame>
        <p:nvGraphicFramePr>
          <p:cNvPr id="6" name="Table 5"/>
          <p:cNvGraphicFramePr>
            <a:graphicFrameLocks noGrp="1"/>
          </p:cNvGraphicFramePr>
          <p:nvPr/>
        </p:nvGraphicFramePr>
        <p:xfrm>
          <a:off x="548640" y="1280160"/>
          <a:ext cx="11094413" cy="3072384"/>
        </p:xfrm>
        <a:graphic>
          <a:graphicData uri="http://schemas.openxmlformats.org/drawingml/2006/table">
            <a:tbl>
              <a:tblPr firstRow="1" bandRow="1">
                <a:tableStyleId>{5C22544A-7EE6-4342-B048-85BDC9FD1C3A}</a:tableStyleId>
              </a:tblPr>
              <a:tblGrid>
                <a:gridCol w="2884547"/>
                <a:gridCol w="1172838"/>
                <a:gridCol w="1172838"/>
                <a:gridCol w="1172838"/>
                <a:gridCol w="1172838"/>
                <a:gridCol w="1172838"/>
                <a:gridCol w="1172838"/>
                <a:gridCol w="1172838"/>
              </a:tblGrid>
              <a:tr h="384048">
                <a:tc>
                  <a:txBody>
                    <a:bodyPr wrap="square"/>
                    <a:lstStyle/>
                    <a:p>
                      <a:pPr algn="l"/>
                      <a:r>
                        <a:rPr sz="1000" b="1">
                          <a:solidFill>
                            <a:srgbClr val="FFFFFF"/>
                          </a:solidFill>
                          <a:latin typeface="Calibri"/>
                        </a:rPr>
                        <a:t>Mandate</a:t>
                      </a:r>
                    </a:p>
                  </a:txBody>
                  <a:tcPr marL="73152" marR="73152" marT="36576" marB="36576" anchor="ctr">
                    <a:solidFill>
                      <a:srgbClr val="17324D"/>
                    </a:solidFill>
                  </a:tcPr>
                </a:tc>
                <a:tc>
                  <a:txBody>
                    <a:bodyPr wrap="square"/>
                    <a:lstStyle/>
                    <a:p>
                      <a:pPr algn="r"/>
                      <a:r>
                        <a:rPr sz="1000" b="1">
                          <a:solidFill>
                            <a:srgbClr val="FFFFFF"/>
                          </a:solidFill>
                          <a:latin typeface="Calibri"/>
                        </a:rPr>
                        <a:t>Value</a:t>
                      </a:r>
                    </a:p>
                  </a:txBody>
                  <a:tcPr marL="73152" marR="73152" marT="36576" marB="36576" anchor="ctr">
                    <a:solidFill>
                      <a:srgbClr val="17324D"/>
                    </a:solidFill>
                  </a:tcPr>
                </a:tc>
                <a:tc>
                  <a:txBody>
                    <a:bodyPr wrap="square"/>
                    <a:lstStyle/>
                    <a:p>
                      <a:pPr algn="r"/>
                      <a:r>
                        <a:rPr sz="1000" b="1">
                          <a:solidFill>
                            <a:srgbClr val="FFFFFF"/>
                          </a:solidFill>
                          <a:latin typeface="Calibri"/>
                        </a:rPr>
                        <a:t>Quarter</a:t>
                      </a:r>
                    </a:p>
                  </a:txBody>
                  <a:tcPr marL="73152" marR="73152" marT="36576" marB="36576" anchor="ctr">
                    <a:solidFill>
                      <a:srgbClr val="17324D"/>
                    </a:solidFill>
                  </a:tcPr>
                </a:tc>
                <a:tc>
                  <a:txBody>
                    <a:bodyPr wrap="square"/>
                    <a:lstStyle/>
                    <a:p>
                      <a:pPr algn="r"/>
                      <a:r>
                        <a:rPr sz="1000" b="1">
                          <a:solidFill>
                            <a:srgbClr val="FFFFFF"/>
                          </a:solidFill>
                          <a:latin typeface="Calibri"/>
                        </a:rPr>
                        <a:t>vs bmk</a:t>
                      </a:r>
                    </a:p>
                  </a:txBody>
                  <a:tcPr marL="73152" marR="73152" marT="36576" marB="36576" anchor="ctr">
                    <a:solidFill>
                      <a:srgbClr val="17324D"/>
                    </a:solidFill>
                  </a:tcPr>
                </a:tc>
                <a:tc>
                  <a:txBody>
                    <a:bodyPr wrap="square"/>
                    <a:lstStyle/>
                    <a:p>
                      <a:pPr algn="r"/>
                      <a:r>
                        <a:rPr sz="1000" b="1">
                          <a:solidFill>
                            <a:srgbClr val="FFFFFF"/>
                          </a:solidFill>
                          <a:latin typeface="Calibri"/>
                        </a:rPr>
                        <a:t>1 year</a:t>
                      </a:r>
                    </a:p>
                  </a:txBody>
                  <a:tcPr marL="73152" marR="73152" marT="36576" marB="36576" anchor="ctr">
                    <a:solidFill>
                      <a:srgbClr val="17324D"/>
                    </a:solidFill>
                  </a:tcPr>
                </a:tc>
                <a:tc>
                  <a:txBody>
                    <a:bodyPr wrap="square"/>
                    <a:lstStyle/>
                    <a:p>
                      <a:pPr algn="r"/>
                      <a:r>
                        <a:rPr sz="1000" b="1">
                          <a:solidFill>
                            <a:srgbClr val="FFFFFF"/>
                          </a:solidFill>
                          <a:latin typeface="Calibri"/>
                        </a:rPr>
                        <a:t>vs bmk</a:t>
                      </a:r>
                    </a:p>
                  </a:txBody>
                  <a:tcPr marL="73152" marR="73152" marT="36576" marB="36576" anchor="ctr">
                    <a:solidFill>
                      <a:srgbClr val="17324D"/>
                    </a:solidFill>
                  </a:tcPr>
                </a:tc>
                <a:tc>
                  <a:txBody>
                    <a:bodyPr wrap="square"/>
                    <a:lstStyle/>
                    <a:p>
                      <a:pPr algn="r"/>
                      <a:r>
                        <a:rPr sz="1000" b="1">
                          <a:solidFill>
                            <a:srgbClr val="FFFFFF"/>
                          </a:solidFill>
                          <a:latin typeface="Calibri"/>
                        </a:rPr>
                        <a:t>3 years p.a.</a:t>
                      </a:r>
                    </a:p>
                  </a:txBody>
                  <a:tcPr marL="73152" marR="73152" marT="36576" marB="36576" anchor="ctr">
                    <a:solidFill>
                      <a:srgbClr val="17324D"/>
                    </a:solidFill>
                  </a:tcPr>
                </a:tc>
                <a:tc>
                  <a:txBody>
                    <a:bodyPr wrap="square"/>
                    <a:lstStyle/>
                    <a:p>
                      <a:pPr algn="r"/>
                      <a:r>
                        <a:rPr sz="1000" b="1">
                          <a:solidFill>
                            <a:srgbClr val="FFFFFF"/>
                          </a:solidFill>
                          <a:latin typeface="Calibri"/>
                        </a:rPr>
                        <a:t>vs bmk</a:t>
                      </a:r>
                    </a:p>
                  </a:txBody>
                  <a:tcPr marL="73152" marR="73152" marT="36576" marB="36576" anchor="ctr">
                    <a:solidFill>
                      <a:srgbClr val="17324D"/>
                    </a:solidFill>
                  </a:tcPr>
                </a:tc>
              </a:tr>
              <a:tr h="384048">
                <a:tc>
                  <a:txBody>
                    <a:bodyPr wrap="square"/>
                    <a:lstStyle/>
                    <a:p>
                      <a:pPr algn="l"/>
                      <a:r>
                        <a:rPr sz="1000" b="0">
                          <a:solidFill>
                            <a:srgbClr val="1B1B1B"/>
                          </a:solidFill>
                          <a:latin typeface="Calibri"/>
                        </a:rPr>
                        <a:t>Global Equity</a:t>
                      </a:r>
                    </a:p>
                  </a:txBody>
                  <a:tcPr marL="73152" marR="73152" marT="36576" marB="36576" anchor="ctr">
                    <a:solidFill>
                      <a:srgbClr val="FFFFFF"/>
                    </a:solidFill>
                  </a:tcPr>
                </a:tc>
                <a:tc>
                  <a:txBody>
                    <a:bodyPr wrap="square"/>
                    <a:lstStyle/>
                    <a:p>
                      <a:pPr algn="r"/>
                      <a:r>
                        <a:rPr sz="1000" b="0">
                          <a:solidFill>
                            <a:srgbClr val="1B1B1B"/>
                          </a:solidFill>
                          <a:latin typeface="Calibri"/>
                        </a:rPr>
                        <a:t>£429.0m</a:t>
                      </a:r>
                    </a:p>
                  </a:txBody>
                  <a:tcPr marL="73152" marR="73152" marT="36576" marB="36576" anchor="ctr">
                    <a:solidFill>
                      <a:srgbClr val="FFFFFF"/>
                    </a:solidFill>
                  </a:tcPr>
                </a:tc>
                <a:tc>
                  <a:txBody>
                    <a:bodyPr wrap="square"/>
                    <a:lstStyle/>
                    <a:p>
                      <a:pPr algn="r"/>
                      <a:r>
                        <a:rPr sz="1000" b="0">
                          <a:solidFill>
                            <a:srgbClr val="1B1B1B"/>
                          </a:solidFill>
                          <a:latin typeface="Calibri"/>
                        </a:rPr>
                        <a:t>10.26%</a:t>
                      </a:r>
                    </a:p>
                  </a:txBody>
                  <a:tcPr marL="73152" marR="73152" marT="36576" marB="36576" anchor="ctr">
                    <a:solidFill>
                      <a:srgbClr val="FFFFFF"/>
                    </a:solidFill>
                  </a:tcPr>
                </a:tc>
                <a:tc>
                  <a:txBody>
                    <a:bodyPr wrap="square"/>
                    <a:lstStyle/>
                    <a:p>
                      <a:pPr algn="r"/>
                      <a:r>
                        <a:rPr sz="1000" b="0">
                          <a:solidFill>
                            <a:srgbClr val="0B7A3E"/>
                          </a:solidFill>
                          <a:latin typeface="Calibri"/>
                        </a:rPr>
                        <a:t>+0.41%</a:t>
                      </a:r>
                    </a:p>
                  </a:txBody>
                  <a:tcPr marL="73152" marR="73152" marT="36576" marB="36576" anchor="ctr">
                    <a:solidFill>
                      <a:srgbClr val="FFFFFF"/>
                    </a:solidFill>
                  </a:tcPr>
                </a:tc>
                <a:tc>
                  <a:txBody>
                    <a:bodyPr wrap="square"/>
                    <a:lstStyle/>
                    <a:p>
                      <a:pPr algn="r"/>
                      <a:r>
                        <a:rPr sz="1000" b="0">
                          <a:solidFill>
                            <a:srgbClr val="1B1B1B"/>
                          </a:solidFill>
                          <a:latin typeface="Calibri"/>
                        </a:rPr>
                        <a:t>26.16%</a:t>
                      </a:r>
                    </a:p>
                  </a:txBody>
                  <a:tcPr marL="73152" marR="73152" marT="36576" marB="36576" anchor="ctr">
                    <a:solidFill>
                      <a:srgbClr val="FFFFFF"/>
                    </a:solidFill>
                  </a:tcPr>
                </a:tc>
                <a:tc>
                  <a:txBody>
                    <a:bodyPr wrap="square"/>
                    <a:lstStyle/>
                    <a:p>
                      <a:pPr algn="r"/>
                      <a:r>
                        <a:rPr sz="1000" b="0">
                          <a:solidFill>
                            <a:srgbClr val="C0392B"/>
                          </a:solidFill>
                          <a:latin typeface="Calibri"/>
                        </a:rPr>
                        <a:t>-2.08%</a:t>
                      </a:r>
                    </a:p>
                  </a:txBody>
                  <a:tcPr marL="73152" marR="73152" marT="36576" marB="36576" anchor="ctr">
                    <a:solidFill>
                      <a:srgbClr val="FFFFFF"/>
                    </a:solidFill>
                  </a:tcPr>
                </a:tc>
                <a:tc>
                  <a:txBody>
                    <a:bodyPr wrap="square"/>
                    <a:lstStyle/>
                    <a:p>
                      <a:pPr algn="r"/>
                      <a:r>
                        <a:rPr sz="1000" b="0">
                          <a:solidFill>
                            <a:srgbClr val="1B1B1B"/>
                          </a:solidFill>
                          <a:latin typeface="Calibri"/>
                        </a:rPr>
                        <a:t>19.59%</a:t>
                      </a:r>
                    </a:p>
                  </a:txBody>
                  <a:tcPr marL="73152" marR="73152" marT="36576" marB="36576" anchor="ctr">
                    <a:solidFill>
                      <a:srgbClr val="FFFFFF"/>
                    </a:solidFill>
                  </a:tcPr>
                </a:tc>
                <a:tc>
                  <a:txBody>
                    <a:bodyPr wrap="square"/>
                    <a:lstStyle/>
                    <a:p>
                      <a:pPr algn="r"/>
                      <a:r>
                        <a:rPr sz="1000" b="0">
                          <a:solidFill>
                            <a:srgbClr val="0B7A3E"/>
                          </a:solidFill>
                          <a:latin typeface="Calibri"/>
                        </a:rPr>
                        <a:t>+0.18%</a:t>
                      </a:r>
                    </a:p>
                  </a:txBody>
                  <a:tcPr marL="73152" marR="73152" marT="36576" marB="36576" anchor="ctr">
                    <a:solidFill>
                      <a:srgbClr val="FFFFFF"/>
                    </a:solidFill>
                  </a:tcPr>
                </a:tc>
              </a:tr>
              <a:tr h="384048">
                <a:tc>
                  <a:txBody>
                    <a:bodyPr wrap="square"/>
                    <a:lstStyle/>
                    <a:p>
                      <a:pPr algn="l"/>
                      <a:r>
                        <a:rPr sz="1000" b="0">
                          <a:solidFill>
                            <a:srgbClr val="1B1B1B"/>
                          </a:solidFill>
                          <a:latin typeface="Calibri"/>
                        </a:rPr>
                        <a:t>Emerging Markets Equity</a:t>
                      </a:r>
                    </a:p>
                  </a:txBody>
                  <a:tcPr marL="73152" marR="73152" marT="36576" marB="36576" anchor="ctr">
                    <a:solidFill>
                      <a:srgbClr val="FAFAF8"/>
                    </a:solidFill>
                  </a:tcPr>
                </a:tc>
                <a:tc>
                  <a:txBody>
                    <a:bodyPr wrap="square"/>
                    <a:lstStyle/>
                    <a:p>
                      <a:pPr algn="r"/>
                      <a:r>
                        <a:rPr sz="1000" b="0">
                          <a:solidFill>
                            <a:srgbClr val="1B1B1B"/>
                          </a:solidFill>
                          <a:latin typeface="Calibri"/>
                        </a:rPr>
                        <a:t>£155.2m</a:t>
                      </a:r>
                    </a:p>
                  </a:txBody>
                  <a:tcPr marL="73152" marR="73152" marT="36576" marB="36576" anchor="ctr">
                    <a:solidFill>
                      <a:srgbClr val="FAFAF8"/>
                    </a:solidFill>
                  </a:tcPr>
                </a:tc>
                <a:tc>
                  <a:txBody>
                    <a:bodyPr wrap="square"/>
                    <a:lstStyle/>
                    <a:p>
                      <a:pPr algn="r"/>
                      <a:r>
                        <a:rPr sz="1000" b="0">
                          <a:solidFill>
                            <a:srgbClr val="1B1B1B"/>
                          </a:solidFill>
                          <a:latin typeface="Calibri"/>
                        </a:rPr>
                        <a:t>-3.11%</a:t>
                      </a:r>
                    </a:p>
                  </a:txBody>
                  <a:tcPr marL="73152" marR="73152" marT="36576" marB="36576" anchor="ctr">
                    <a:solidFill>
                      <a:srgbClr val="FAFAF8"/>
                    </a:solidFill>
                  </a:tcPr>
                </a:tc>
                <a:tc>
                  <a:txBody>
                    <a:bodyPr wrap="square"/>
                    <a:lstStyle/>
                    <a:p>
                      <a:pPr algn="r"/>
                      <a:r>
                        <a:rPr sz="1000" b="0">
                          <a:solidFill>
                            <a:srgbClr val="C0392B"/>
                          </a:solidFill>
                          <a:latin typeface="Calibri"/>
                        </a:rPr>
                        <a:t>-0.74%</a:t>
                      </a:r>
                    </a:p>
                  </a:txBody>
                  <a:tcPr marL="73152" marR="73152" marT="36576" marB="36576" anchor="ctr">
                    <a:solidFill>
                      <a:srgbClr val="FAFAF8"/>
                    </a:solidFill>
                  </a:tcPr>
                </a:tc>
                <a:tc>
                  <a:txBody>
                    <a:bodyPr wrap="square"/>
                    <a:lstStyle/>
                    <a:p>
                      <a:pPr algn="r"/>
                      <a:r>
                        <a:rPr sz="1000" b="0">
                          <a:solidFill>
                            <a:srgbClr val="1B1B1B"/>
                          </a:solidFill>
                          <a:latin typeface="Calibri"/>
                        </a:rPr>
                        <a:t>15.08%</a:t>
                      </a:r>
                    </a:p>
                  </a:txBody>
                  <a:tcPr marL="73152" marR="73152" marT="36576" marB="36576" anchor="ctr">
                    <a:solidFill>
                      <a:srgbClr val="FAFAF8"/>
                    </a:solidFill>
                  </a:tcPr>
                </a:tc>
                <a:tc>
                  <a:txBody>
                    <a:bodyPr wrap="square"/>
                    <a:lstStyle/>
                    <a:p>
                      <a:pPr algn="r"/>
                      <a:r>
                        <a:rPr sz="1000" b="0">
                          <a:solidFill>
                            <a:srgbClr val="C0392B"/>
                          </a:solidFill>
                          <a:latin typeface="Calibri"/>
                        </a:rPr>
                        <a:t>-5.84%</a:t>
                      </a:r>
                    </a:p>
                  </a:txBody>
                  <a:tcPr marL="73152" marR="73152" marT="36576" marB="36576" anchor="ctr">
                    <a:solidFill>
                      <a:srgbClr val="FAFAF8"/>
                    </a:solidFill>
                  </a:tcPr>
                </a:tc>
                <a:tc>
                  <a:txBody>
                    <a:bodyPr wrap="square"/>
                    <a:lstStyle/>
                    <a:p>
                      <a:pPr algn="r"/>
                      <a:r>
                        <a:rPr sz="1000" b="0">
                          <a:solidFill>
                            <a:srgbClr val="1B1B1B"/>
                          </a:solidFill>
                          <a:latin typeface="Calibri"/>
                        </a:rPr>
                        <a:t>13.29%</a:t>
                      </a:r>
                    </a:p>
                  </a:txBody>
                  <a:tcPr marL="73152" marR="73152" marT="36576" marB="36576" anchor="ctr">
                    <a:solidFill>
                      <a:srgbClr val="FAFAF8"/>
                    </a:solidFill>
                  </a:tcPr>
                </a:tc>
                <a:tc>
                  <a:txBody>
                    <a:bodyPr wrap="square"/>
                    <a:lstStyle/>
                    <a:p>
                      <a:pPr algn="r"/>
                      <a:r>
                        <a:rPr sz="1000" b="0">
                          <a:solidFill>
                            <a:srgbClr val="C0392B"/>
                          </a:solidFill>
                          <a:latin typeface="Calibri"/>
                        </a:rPr>
                        <a:t>-3.82%</a:t>
                      </a:r>
                    </a:p>
                  </a:txBody>
                  <a:tcPr marL="73152" marR="73152" marT="36576" marB="36576" anchor="ctr">
                    <a:solidFill>
                      <a:srgbClr val="FAFAF8"/>
                    </a:solidFill>
                  </a:tcPr>
                </a:tc>
              </a:tr>
              <a:tr h="384048">
                <a:tc>
                  <a:txBody>
                    <a:bodyPr wrap="square"/>
                    <a:lstStyle/>
                    <a:p>
                      <a:pPr algn="l"/>
                      <a:r>
                        <a:rPr sz="1000" b="0">
                          <a:solidFill>
                            <a:srgbClr val="1B1B1B"/>
                          </a:solidFill>
                          <a:latin typeface="Calibri"/>
                        </a:rPr>
                        <a:t>Diversified Growth</a:t>
                      </a:r>
                    </a:p>
                  </a:txBody>
                  <a:tcPr marL="73152" marR="73152" marT="36576" marB="36576" anchor="ctr">
                    <a:solidFill>
                      <a:srgbClr val="FFFFFF"/>
                    </a:solidFill>
                  </a:tcPr>
                </a:tc>
                <a:tc>
                  <a:txBody>
                    <a:bodyPr wrap="square"/>
                    <a:lstStyle/>
                    <a:p>
                      <a:pPr algn="r"/>
                      <a:r>
                        <a:rPr sz="1000" b="0">
                          <a:solidFill>
                            <a:srgbClr val="1B1B1B"/>
                          </a:solidFill>
                          <a:latin typeface="Calibri"/>
                        </a:rPr>
                        <a:t>£156.3m</a:t>
                      </a:r>
                    </a:p>
                  </a:txBody>
                  <a:tcPr marL="73152" marR="73152" marT="36576" marB="36576" anchor="ctr">
                    <a:solidFill>
                      <a:srgbClr val="FFFFFF"/>
                    </a:solidFill>
                  </a:tcPr>
                </a:tc>
                <a:tc>
                  <a:txBody>
                    <a:bodyPr wrap="square"/>
                    <a:lstStyle/>
                    <a:p>
                      <a:pPr algn="r"/>
                      <a:r>
                        <a:rPr sz="1000" b="0">
                          <a:solidFill>
                            <a:srgbClr val="1B1B1B"/>
                          </a:solidFill>
                          <a:latin typeface="Calibri"/>
                        </a:rPr>
                        <a:t>3.49%</a:t>
                      </a:r>
                    </a:p>
                  </a:txBody>
                  <a:tcPr marL="73152" marR="73152" marT="36576" marB="36576" anchor="ctr">
                    <a:solidFill>
                      <a:srgbClr val="FFFFFF"/>
                    </a:solidFill>
                  </a:tcPr>
                </a:tc>
                <a:tc>
                  <a:txBody>
                    <a:bodyPr wrap="square"/>
                    <a:lstStyle/>
                    <a:p>
                      <a:pPr algn="r"/>
                      <a:r>
                        <a:rPr sz="1000" b="0">
                          <a:solidFill>
                            <a:srgbClr val="C0392B"/>
                          </a:solidFill>
                          <a:latin typeface="Calibri"/>
                        </a:rPr>
                        <a:t>-1.45%</a:t>
                      </a:r>
                    </a:p>
                  </a:txBody>
                  <a:tcPr marL="73152" marR="73152" marT="36576" marB="36576" anchor="ctr">
                    <a:solidFill>
                      <a:srgbClr val="FFFFFF"/>
                    </a:solidFill>
                  </a:tcPr>
                </a:tc>
                <a:tc>
                  <a:txBody>
                    <a:bodyPr wrap="square"/>
                    <a:lstStyle/>
                    <a:p>
                      <a:pPr algn="r"/>
                      <a:r>
                        <a:rPr sz="1000" b="0">
                          <a:solidFill>
                            <a:srgbClr val="1B1B1B"/>
                          </a:solidFill>
                          <a:latin typeface="Calibri"/>
                        </a:rPr>
                        <a:t>10.35%</a:t>
                      </a:r>
                    </a:p>
                  </a:txBody>
                  <a:tcPr marL="73152" marR="73152" marT="36576" marB="36576" anchor="ctr">
                    <a:solidFill>
                      <a:srgbClr val="FFFFFF"/>
                    </a:solidFill>
                  </a:tcPr>
                </a:tc>
                <a:tc>
                  <a:txBody>
                    <a:bodyPr wrap="square"/>
                    <a:lstStyle/>
                    <a:p>
                      <a:pPr algn="r"/>
                      <a:r>
                        <a:rPr sz="1000" b="0">
                          <a:solidFill>
                            <a:srgbClr val="C0392B"/>
                          </a:solidFill>
                          <a:latin typeface="Calibri"/>
                        </a:rPr>
                        <a:t>-2.10%</a:t>
                      </a:r>
                    </a:p>
                  </a:txBody>
                  <a:tcPr marL="73152" marR="73152" marT="36576" marB="36576" anchor="ctr">
                    <a:solidFill>
                      <a:srgbClr val="FFFFFF"/>
                    </a:solidFill>
                  </a:tcPr>
                </a:tc>
                <a:tc>
                  <a:txBody>
                    <a:bodyPr wrap="square"/>
                    <a:lstStyle/>
                    <a:p>
                      <a:pPr algn="r"/>
                      <a:r>
                        <a:rPr sz="1000" b="0">
                          <a:solidFill>
                            <a:srgbClr val="1B1B1B"/>
                          </a:solidFill>
                          <a:latin typeface="Calibri"/>
                        </a:rPr>
                        <a:t>12.91%</a:t>
                      </a:r>
                    </a:p>
                  </a:txBody>
                  <a:tcPr marL="73152" marR="73152" marT="36576" marB="36576" anchor="ctr">
                    <a:solidFill>
                      <a:srgbClr val="FFFFFF"/>
                    </a:solidFill>
                  </a:tcPr>
                </a:tc>
                <a:tc>
                  <a:txBody>
                    <a:bodyPr wrap="square"/>
                    <a:lstStyle/>
                    <a:p>
                      <a:pPr algn="r"/>
                      <a:r>
                        <a:rPr sz="1000" b="0">
                          <a:solidFill>
                            <a:srgbClr val="0B7A3E"/>
                          </a:solidFill>
                          <a:latin typeface="Calibri"/>
                        </a:rPr>
                        <a:t>+0.77%</a:t>
                      </a:r>
                    </a:p>
                  </a:txBody>
                  <a:tcPr marL="73152" marR="73152" marT="36576" marB="36576" anchor="ctr">
                    <a:solidFill>
                      <a:srgbClr val="FFFFFF"/>
                    </a:solidFill>
                  </a:tcPr>
                </a:tc>
              </a:tr>
              <a:tr h="384048">
                <a:tc>
                  <a:txBody>
                    <a:bodyPr wrap="square"/>
                    <a:lstStyle/>
                    <a:p>
                      <a:pPr algn="l"/>
                      <a:r>
                        <a:rPr sz="1000" b="0">
                          <a:solidFill>
                            <a:srgbClr val="1B1B1B"/>
                          </a:solidFill>
                          <a:latin typeface="Calibri"/>
                        </a:rPr>
                        <a:t>UK Property</a:t>
                      </a:r>
                    </a:p>
                  </a:txBody>
                  <a:tcPr marL="73152" marR="73152" marT="36576" marB="36576" anchor="ctr">
                    <a:solidFill>
                      <a:srgbClr val="FAFAF8"/>
                    </a:solidFill>
                  </a:tcPr>
                </a:tc>
                <a:tc>
                  <a:txBody>
                    <a:bodyPr wrap="square"/>
                    <a:lstStyle/>
                    <a:p>
                      <a:pPr algn="r"/>
                      <a:r>
                        <a:rPr sz="1000" b="0">
                          <a:solidFill>
                            <a:srgbClr val="1B1B1B"/>
                          </a:solidFill>
                          <a:latin typeface="Calibri"/>
                        </a:rPr>
                        <a:t>£156.6m</a:t>
                      </a:r>
                    </a:p>
                  </a:txBody>
                  <a:tcPr marL="73152" marR="73152" marT="36576" marB="36576" anchor="ctr">
                    <a:solidFill>
                      <a:srgbClr val="FAFAF8"/>
                    </a:solidFill>
                  </a:tcPr>
                </a:tc>
                <a:tc>
                  <a:txBody>
                    <a:bodyPr wrap="square"/>
                    <a:lstStyle/>
                    <a:p>
                      <a:pPr algn="r"/>
                      <a:r>
                        <a:rPr sz="1000" b="0">
                          <a:solidFill>
                            <a:srgbClr val="1B1B1B"/>
                          </a:solidFill>
                          <a:latin typeface="Calibri"/>
                        </a:rPr>
                        <a:t>1.41%</a:t>
                      </a:r>
                    </a:p>
                  </a:txBody>
                  <a:tcPr marL="73152" marR="73152" marT="36576" marB="36576" anchor="ctr">
                    <a:solidFill>
                      <a:srgbClr val="FAFAF8"/>
                    </a:solidFill>
                  </a:tcPr>
                </a:tc>
                <a:tc>
                  <a:txBody>
                    <a:bodyPr wrap="square"/>
                    <a:lstStyle/>
                    <a:p>
                      <a:pPr algn="r"/>
                      <a:r>
                        <a:rPr sz="1000" b="0">
                          <a:solidFill>
                            <a:srgbClr val="0B7A3E"/>
                          </a:solidFill>
                          <a:latin typeface="Calibri"/>
                        </a:rPr>
                        <a:t>+0.43%</a:t>
                      </a:r>
                    </a:p>
                  </a:txBody>
                  <a:tcPr marL="73152" marR="73152" marT="36576" marB="36576" anchor="ctr">
                    <a:solidFill>
                      <a:srgbClr val="FAFAF8"/>
                    </a:solidFill>
                  </a:tcPr>
                </a:tc>
                <a:tc>
                  <a:txBody>
                    <a:bodyPr wrap="square"/>
                    <a:lstStyle/>
                    <a:p>
                      <a:pPr algn="r"/>
                      <a:r>
                        <a:rPr sz="1000" b="0">
                          <a:solidFill>
                            <a:srgbClr val="1B1B1B"/>
                          </a:solidFill>
                          <a:latin typeface="Calibri"/>
                        </a:rPr>
                        <a:t>14.41%</a:t>
                      </a:r>
                    </a:p>
                  </a:txBody>
                  <a:tcPr marL="73152" marR="73152" marT="36576" marB="36576" anchor="ctr">
                    <a:solidFill>
                      <a:srgbClr val="FAFAF8"/>
                    </a:solidFill>
                  </a:tcPr>
                </a:tc>
                <a:tc>
                  <a:txBody>
                    <a:bodyPr wrap="square"/>
                    <a:lstStyle/>
                    <a:p>
                      <a:pPr algn="r"/>
                      <a:r>
                        <a:rPr sz="1000" b="0">
                          <a:solidFill>
                            <a:srgbClr val="0B7A3E"/>
                          </a:solidFill>
                          <a:latin typeface="Calibri"/>
                        </a:rPr>
                        <a:t>+1.91%</a:t>
                      </a:r>
                    </a:p>
                  </a:txBody>
                  <a:tcPr marL="73152" marR="73152" marT="36576" marB="36576" anchor="ctr">
                    <a:solidFill>
                      <a:srgbClr val="FAFAF8"/>
                    </a:solidFill>
                  </a:tcPr>
                </a:tc>
                <a:tc>
                  <a:txBody>
                    <a:bodyPr wrap="square"/>
                    <a:lstStyle/>
                    <a:p>
                      <a:pPr algn="r"/>
                      <a:r>
                        <a:rPr sz="1000" b="0">
                          <a:solidFill>
                            <a:srgbClr val="1B1B1B"/>
                          </a:solidFill>
                          <a:latin typeface="Calibri"/>
                        </a:rPr>
                        <a:t>18.95%</a:t>
                      </a:r>
                    </a:p>
                  </a:txBody>
                  <a:tcPr marL="73152" marR="73152" marT="36576" marB="36576" anchor="ctr">
                    <a:solidFill>
                      <a:srgbClr val="FAFAF8"/>
                    </a:solidFill>
                  </a:tcPr>
                </a:tc>
                <a:tc>
                  <a:txBody>
                    <a:bodyPr wrap="square"/>
                    <a:lstStyle/>
                    <a:p>
                      <a:pPr algn="r"/>
                      <a:r>
                        <a:rPr sz="1000" b="0">
                          <a:solidFill>
                            <a:srgbClr val="0B7A3E"/>
                          </a:solidFill>
                          <a:latin typeface="Calibri"/>
                        </a:rPr>
                        <a:t>+1.59%</a:t>
                      </a:r>
                    </a:p>
                  </a:txBody>
                  <a:tcPr marL="73152" marR="73152" marT="36576" marB="36576" anchor="ctr">
                    <a:solidFill>
                      <a:srgbClr val="FAFAF8"/>
                    </a:solidFill>
                  </a:tcPr>
                </a:tc>
              </a:tr>
              <a:tr h="384048">
                <a:tc>
                  <a:txBody>
                    <a:bodyPr wrap="square"/>
                    <a:lstStyle/>
                    <a:p>
                      <a:pPr algn="l"/>
                      <a:r>
                        <a:rPr sz="1000" b="0">
                          <a:solidFill>
                            <a:srgbClr val="1B1B1B"/>
                          </a:solidFill>
                          <a:latin typeface="Calibri"/>
                        </a:rPr>
                        <a:t>Buy &amp; Maintain Credit</a:t>
                      </a:r>
                    </a:p>
                  </a:txBody>
                  <a:tcPr marL="73152" marR="73152" marT="36576" marB="36576" anchor="ctr">
                    <a:solidFill>
                      <a:srgbClr val="FFFFFF"/>
                    </a:solidFill>
                  </a:tcPr>
                </a:tc>
                <a:tc>
                  <a:txBody>
                    <a:bodyPr wrap="square"/>
                    <a:lstStyle/>
                    <a:p>
                      <a:pPr algn="r"/>
                      <a:r>
                        <a:rPr sz="1000" b="0">
                          <a:solidFill>
                            <a:srgbClr val="1B1B1B"/>
                          </a:solidFill>
                          <a:latin typeface="Calibri"/>
                        </a:rPr>
                        <a:t>£216.7m</a:t>
                      </a:r>
                    </a:p>
                  </a:txBody>
                  <a:tcPr marL="73152" marR="73152" marT="36576" marB="36576" anchor="ctr">
                    <a:solidFill>
                      <a:srgbClr val="FFFFFF"/>
                    </a:solidFill>
                  </a:tcPr>
                </a:tc>
                <a:tc>
                  <a:txBody>
                    <a:bodyPr wrap="square"/>
                    <a:lstStyle/>
                    <a:p>
                      <a:pPr algn="r"/>
                      <a:r>
                        <a:rPr sz="1000" b="0">
                          <a:solidFill>
                            <a:srgbClr val="1B1B1B"/>
                          </a:solidFill>
                          <a:latin typeface="Calibri"/>
                        </a:rPr>
                        <a:t>2.79%</a:t>
                      </a:r>
                    </a:p>
                  </a:txBody>
                  <a:tcPr marL="73152" marR="73152" marT="36576" marB="36576" anchor="ctr">
                    <a:solidFill>
                      <a:srgbClr val="FFFFFF"/>
                    </a:solidFill>
                  </a:tcPr>
                </a:tc>
                <a:tc>
                  <a:txBody>
                    <a:bodyPr wrap="square"/>
                    <a:lstStyle/>
                    <a:p>
                      <a:pPr algn="r"/>
                      <a:r>
                        <a:rPr sz="1000" b="0">
                          <a:solidFill>
                            <a:srgbClr val="0B7A3E"/>
                          </a:solidFill>
                          <a:latin typeface="Calibri"/>
                        </a:rPr>
                        <a:t>+0.16%</a:t>
                      </a:r>
                    </a:p>
                  </a:txBody>
                  <a:tcPr marL="73152" marR="73152" marT="36576" marB="36576" anchor="ctr">
                    <a:solidFill>
                      <a:srgbClr val="FFFFFF"/>
                    </a:solidFill>
                  </a:tcPr>
                </a:tc>
                <a:tc>
                  <a:txBody>
                    <a:bodyPr wrap="square"/>
                    <a:lstStyle/>
                    <a:p>
                      <a:pPr algn="r"/>
                      <a:r>
                        <a:rPr sz="1000" b="0">
                          <a:solidFill>
                            <a:srgbClr val="1B1B1B"/>
                          </a:solidFill>
                          <a:latin typeface="Calibri"/>
                        </a:rPr>
                        <a:t>4.66%</a:t>
                      </a:r>
                    </a:p>
                  </a:txBody>
                  <a:tcPr marL="73152" marR="73152" marT="36576" marB="36576" anchor="ctr">
                    <a:solidFill>
                      <a:srgbClr val="FFFFFF"/>
                    </a:solidFill>
                  </a:tcPr>
                </a:tc>
                <a:tc>
                  <a:txBody>
                    <a:bodyPr wrap="square"/>
                    <a:lstStyle/>
                    <a:p>
                      <a:pPr algn="r"/>
                      <a:r>
                        <a:rPr sz="1000" b="0">
                          <a:solidFill>
                            <a:srgbClr val="0B7A3E"/>
                          </a:solidFill>
                          <a:latin typeface="Calibri"/>
                        </a:rPr>
                        <a:t>+1.72%</a:t>
                      </a:r>
                    </a:p>
                  </a:txBody>
                  <a:tcPr marL="73152" marR="73152" marT="36576" marB="36576" anchor="ctr">
                    <a:solidFill>
                      <a:srgbClr val="FFFFFF"/>
                    </a:solidFill>
                  </a:tcPr>
                </a:tc>
                <a:tc>
                  <a:txBody>
                    <a:bodyPr wrap="square"/>
                    <a:lstStyle/>
                    <a:p>
                      <a:pPr algn="r"/>
                      <a:r>
                        <a:rPr sz="1000" b="0">
                          <a:solidFill>
                            <a:srgbClr val="1B1B1B"/>
                          </a:solidFill>
                          <a:latin typeface="Calibri"/>
                        </a:rPr>
                        <a:t>6.93%</a:t>
                      </a:r>
                    </a:p>
                  </a:txBody>
                  <a:tcPr marL="73152" marR="73152" marT="36576" marB="36576" anchor="ctr">
                    <a:solidFill>
                      <a:srgbClr val="FFFFFF"/>
                    </a:solidFill>
                  </a:tcPr>
                </a:tc>
                <a:tc>
                  <a:txBody>
                    <a:bodyPr wrap="square"/>
                    <a:lstStyle/>
                    <a:p>
                      <a:pPr algn="r"/>
                      <a:r>
                        <a:rPr sz="1000" b="0">
                          <a:solidFill>
                            <a:srgbClr val="0B7A3E"/>
                          </a:solidFill>
                          <a:latin typeface="Calibri"/>
                        </a:rPr>
                        <a:t>+1.37%</a:t>
                      </a:r>
                    </a:p>
                  </a:txBody>
                  <a:tcPr marL="73152" marR="73152" marT="36576" marB="36576" anchor="ctr">
                    <a:solidFill>
                      <a:srgbClr val="FFFFFF"/>
                    </a:solidFill>
                  </a:tcPr>
                </a:tc>
              </a:tr>
              <a:tr h="384048">
                <a:tc>
                  <a:txBody>
                    <a:bodyPr wrap="square"/>
                    <a:lstStyle/>
                    <a:p>
                      <a:pPr algn="l"/>
                      <a:r>
                        <a:rPr sz="1000" b="0">
                          <a:solidFill>
                            <a:srgbClr val="1B1B1B"/>
                          </a:solidFill>
                          <a:latin typeface="Calibri"/>
                        </a:rPr>
                        <a:t>Liability Driven Investment</a:t>
                      </a:r>
                    </a:p>
                  </a:txBody>
                  <a:tcPr marL="73152" marR="73152" marT="36576" marB="36576" anchor="ctr">
                    <a:solidFill>
                      <a:srgbClr val="FAFAF8"/>
                    </a:solidFill>
                  </a:tcPr>
                </a:tc>
                <a:tc>
                  <a:txBody>
                    <a:bodyPr wrap="square"/>
                    <a:lstStyle/>
                    <a:p>
                      <a:pPr algn="r"/>
                      <a:r>
                        <a:rPr sz="1000" b="0">
                          <a:solidFill>
                            <a:srgbClr val="1B1B1B"/>
                          </a:solidFill>
                          <a:latin typeface="Calibri"/>
                        </a:rPr>
                        <a:t>£422.9m</a:t>
                      </a:r>
                    </a:p>
                  </a:txBody>
                  <a:tcPr marL="73152" marR="73152" marT="36576" marB="36576" anchor="ctr">
                    <a:solidFill>
                      <a:srgbClr val="FAFAF8"/>
                    </a:solidFill>
                  </a:tcPr>
                </a:tc>
                <a:tc>
                  <a:txBody>
                    <a:bodyPr wrap="square"/>
                    <a:lstStyle/>
                    <a:p>
                      <a:pPr algn="r"/>
                      <a:r>
                        <a:rPr sz="1000" b="0">
                          <a:solidFill>
                            <a:srgbClr val="1B1B1B"/>
                          </a:solidFill>
                          <a:latin typeface="Calibri"/>
                        </a:rPr>
                        <a:t>3.36%</a:t>
                      </a:r>
                    </a:p>
                  </a:txBody>
                  <a:tcPr marL="73152" marR="73152" marT="36576" marB="36576" anchor="ctr">
                    <a:solidFill>
                      <a:srgbClr val="FAFAF8"/>
                    </a:solidFill>
                  </a:tcPr>
                </a:tc>
                <a:tc>
                  <a:txBody>
                    <a:bodyPr wrap="square"/>
                    <a:lstStyle/>
                    <a:p>
                      <a:pPr algn="r"/>
                      <a:r>
                        <a:rPr sz="1000" b="0">
                          <a:solidFill>
                            <a:srgbClr val="0B7A3E"/>
                          </a:solidFill>
                          <a:latin typeface="Calibri"/>
                        </a:rPr>
                        <a:t>+0.17%</a:t>
                      </a:r>
                    </a:p>
                  </a:txBody>
                  <a:tcPr marL="73152" marR="73152" marT="36576" marB="36576" anchor="ctr">
                    <a:solidFill>
                      <a:srgbClr val="FAFAF8"/>
                    </a:solidFill>
                  </a:tcPr>
                </a:tc>
                <a:tc>
                  <a:txBody>
                    <a:bodyPr wrap="square"/>
                    <a:lstStyle/>
                    <a:p>
                      <a:pPr algn="r"/>
                      <a:r>
                        <a:rPr sz="1000" b="0">
                          <a:solidFill>
                            <a:srgbClr val="1B1B1B"/>
                          </a:solidFill>
                          <a:latin typeface="Calibri"/>
                        </a:rPr>
                        <a:t>1.25%</a:t>
                      </a:r>
                    </a:p>
                  </a:txBody>
                  <a:tcPr marL="73152" marR="73152" marT="36576" marB="36576" anchor="ctr">
                    <a:solidFill>
                      <a:srgbClr val="FAFAF8"/>
                    </a:solidFill>
                  </a:tcPr>
                </a:tc>
                <a:tc>
                  <a:txBody>
                    <a:bodyPr wrap="square"/>
                    <a:lstStyle/>
                    <a:p>
                      <a:pPr algn="r"/>
                      <a:r>
                        <a:rPr sz="1000" b="0">
                          <a:solidFill>
                            <a:srgbClr val="C0392B"/>
                          </a:solidFill>
                          <a:latin typeface="Calibri"/>
                        </a:rPr>
                        <a:t>-0.06%</a:t>
                      </a:r>
                    </a:p>
                  </a:txBody>
                  <a:tcPr marL="73152" marR="73152" marT="36576" marB="36576" anchor="ctr">
                    <a:solidFill>
                      <a:srgbClr val="FAFAF8"/>
                    </a:solidFill>
                  </a:tcPr>
                </a:tc>
                <a:tc>
                  <a:txBody>
                    <a:bodyPr wrap="square"/>
                    <a:lstStyle/>
                    <a:p>
                      <a:pPr algn="r"/>
                      <a:r>
                        <a:rPr sz="1000" b="0">
                          <a:solidFill>
                            <a:srgbClr val="1B1B1B"/>
                          </a:solidFill>
                          <a:latin typeface="Calibri"/>
                        </a:rPr>
                        <a:t>-3.38%</a:t>
                      </a:r>
                    </a:p>
                  </a:txBody>
                  <a:tcPr marL="73152" marR="73152" marT="36576" marB="36576" anchor="ctr">
                    <a:solidFill>
                      <a:srgbClr val="FAFAF8"/>
                    </a:solidFill>
                  </a:tcPr>
                </a:tc>
                <a:tc>
                  <a:txBody>
                    <a:bodyPr wrap="square"/>
                    <a:lstStyle/>
                    <a:p>
                      <a:pPr algn="r"/>
                      <a:r>
                        <a:rPr sz="1000" b="0">
                          <a:solidFill>
                            <a:srgbClr val="0B7A3E"/>
                          </a:solidFill>
                          <a:latin typeface="Calibri"/>
                        </a:rPr>
                        <a:t>+0.21%</a:t>
                      </a:r>
                    </a:p>
                  </a:txBody>
                  <a:tcPr marL="73152" marR="73152" marT="36576" marB="36576" anchor="ctr">
                    <a:solidFill>
                      <a:srgbClr val="FAFAF8"/>
                    </a:solidFill>
                  </a:tcPr>
                </a:tc>
              </a:tr>
              <a:tr h="384048">
                <a:tc>
                  <a:txBody>
                    <a:bodyPr wrap="square"/>
                    <a:lstStyle/>
                    <a:p>
                      <a:pPr algn="l"/>
                      <a:r>
                        <a:rPr sz="1000" b="1">
                          <a:solidFill>
                            <a:srgbClr val="1B1B1B"/>
                          </a:solidFill>
                          <a:latin typeface="Calibri"/>
                        </a:rPr>
                        <a:t>Total fund</a:t>
                      </a:r>
                    </a:p>
                  </a:txBody>
                  <a:tcPr marL="73152" marR="73152" marT="36576" marB="36576" anchor="ctr">
                    <a:solidFill>
                      <a:srgbClr val="F3F2EE"/>
                    </a:solidFill>
                  </a:tcPr>
                </a:tc>
                <a:tc>
                  <a:txBody>
                    <a:bodyPr wrap="square"/>
                    <a:lstStyle/>
                    <a:p>
                      <a:pPr algn="r"/>
                      <a:r>
                        <a:rPr sz="1000" b="1">
                          <a:solidFill>
                            <a:srgbClr val="1B1B1B"/>
                          </a:solidFill>
                          <a:latin typeface="Calibri"/>
                        </a:rPr>
                        <a:t>£1.54bn</a:t>
                      </a:r>
                    </a:p>
                  </a:txBody>
                  <a:tcPr marL="73152" marR="73152" marT="36576" marB="36576" anchor="ctr">
                    <a:solidFill>
                      <a:srgbClr val="F3F2EE"/>
                    </a:solidFill>
                  </a:tcPr>
                </a:tc>
                <a:tc>
                  <a:txBody>
                    <a:bodyPr wrap="square"/>
                    <a:lstStyle/>
                    <a:p>
                      <a:pPr algn="r"/>
                      <a:r>
                        <a:rPr sz="1000" b="1">
                          <a:solidFill>
                            <a:srgbClr val="1B1B1B"/>
                          </a:solidFill>
                          <a:latin typeface="Calibri"/>
                        </a:rPr>
                        <a:t>4.06%</a:t>
                      </a:r>
                    </a:p>
                  </a:txBody>
                  <a:tcPr marL="73152" marR="73152" marT="36576" marB="36576" anchor="ctr">
                    <a:solidFill>
                      <a:srgbClr val="F3F2EE"/>
                    </a:solidFill>
                  </a:tcPr>
                </a:tc>
                <a:tc>
                  <a:txBody>
                    <a:bodyPr wrap="square"/>
                    <a:lstStyle/>
                    <a:p>
                      <a:pPr algn="r"/>
                      <a:r>
                        <a:rPr sz="1000" b="1">
                          <a:solidFill>
                            <a:srgbClr val="C0392B"/>
                          </a:solidFill>
                          <a:latin typeface="Calibri"/>
                        </a:rPr>
                        <a:t>-0.25%</a:t>
                      </a:r>
                    </a:p>
                  </a:txBody>
                  <a:tcPr marL="73152" marR="73152" marT="36576" marB="36576" anchor="ctr">
                    <a:solidFill>
                      <a:srgbClr val="F3F2EE"/>
                    </a:solidFill>
                  </a:tcPr>
                </a:tc>
                <a:tc>
                  <a:txBody>
                    <a:bodyPr wrap="square"/>
                    <a:lstStyle/>
                    <a:p>
                      <a:pPr algn="r"/>
                      <a:r>
                        <a:rPr sz="1000" b="1">
                          <a:solidFill>
                            <a:srgbClr val="1B1B1B"/>
                          </a:solidFill>
                          <a:latin typeface="Calibri"/>
                        </a:rPr>
                        <a:t>11.76%</a:t>
                      </a:r>
                    </a:p>
                  </a:txBody>
                  <a:tcPr marL="73152" marR="73152" marT="36576" marB="36576" anchor="ctr">
                    <a:solidFill>
                      <a:srgbClr val="F3F2EE"/>
                    </a:solidFill>
                  </a:tcPr>
                </a:tc>
                <a:tc>
                  <a:txBody>
                    <a:bodyPr wrap="square"/>
                    <a:lstStyle/>
                    <a:p>
                      <a:pPr algn="r"/>
                      <a:r>
                        <a:rPr sz="1000" b="1">
                          <a:solidFill>
                            <a:srgbClr val="C0392B"/>
                          </a:solidFill>
                          <a:latin typeface="Calibri"/>
                        </a:rPr>
                        <a:t>-0.68%</a:t>
                      </a:r>
                    </a:p>
                  </a:txBody>
                  <a:tcPr marL="73152" marR="73152" marT="36576" marB="36576" anchor="ctr">
                    <a:solidFill>
                      <a:srgbClr val="F3F2EE"/>
                    </a:solidFill>
                  </a:tcPr>
                </a:tc>
                <a:tc>
                  <a:txBody>
                    <a:bodyPr wrap="square"/>
                    <a:lstStyle/>
                    <a:p>
                      <a:pPr algn="r"/>
                      <a:r>
                        <a:rPr sz="1000" b="1">
                          <a:solidFill>
                            <a:srgbClr val="1B1B1B"/>
                          </a:solidFill>
                          <a:latin typeface="Calibri"/>
                        </a:rPr>
                        <a:t>9.80%</a:t>
                      </a:r>
                    </a:p>
                  </a:txBody>
                  <a:tcPr marL="73152" marR="73152" marT="36576" marB="36576" anchor="ctr">
                    <a:solidFill>
                      <a:srgbClr val="F3F2EE"/>
                    </a:solidFill>
                  </a:tcPr>
                </a:tc>
                <a:tc>
                  <a:txBody>
                    <a:bodyPr wrap="square"/>
                    <a:lstStyle/>
                    <a:p>
                      <a:pPr algn="r"/>
                      <a:r>
                        <a:rPr sz="1000" b="1">
                          <a:solidFill>
                            <a:srgbClr val="0B7A3E"/>
                          </a:solidFill>
                          <a:latin typeface="Calibri"/>
                        </a:rPr>
                        <a:t>+0.46%</a:t>
                      </a:r>
                    </a:p>
                  </a:txBody>
                  <a:tcPr marL="73152" marR="73152" marT="36576" marB="36576" anchor="ctr">
                    <a:solidFill>
                      <a:srgbClr val="F3F2EE"/>
                    </a:solidFill>
                  </a:tcPr>
                </a:tc>
              </a:tr>
            </a:tbl>
          </a:graphicData>
        </a:graphic>
      </p:graphicFrame>
      <p:sp>
        <p:nvSpPr>
          <p:cNvPr id="7" name="TextBox 6"/>
          <p:cNvSpPr txBox="1"/>
          <p:nvPr/>
        </p:nvSpPr>
        <p:spPr>
          <a:xfrm>
            <a:off x="548640" y="5897880"/>
            <a:ext cx="11094415" cy="457200"/>
          </a:xfrm>
          <a:prstGeom prst="rect">
            <a:avLst/>
          </a:prstGeom>
          <a:noFill/>
        </p:spPr>
        <p:txBody>
          <a:bodyPr wrap="square" anchor="t" lIns="0" rIns="0">
            <a:spAutoFit/>
          </a:bodyPr>
          <a:lstStyle/>
          <a:p>
            <a:pPr algn="l"/>
            <a:r>
              <a:rPr sz="1000" b="0" i="1">
                <a:solidFill>
                  <a:srgbClr val="8A8984"/>
                </a:solidFill>
                <a:latin typeface="Calibri"/>
              </a:rPr>
              <a:t>Returns are time-weighted (Modified Dietz monthly, chain-linked); periods over one year are annualised. 'vs bmk' = fund return minus benchmark return.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Benchmark returns</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5</a:t>
            </a:r>
          </a:p>
        </p:txBody>
      </p:sp>
      <p:graphicFrame>
        <p:nvGraphicFramePr>
          <p:cNvPr id="6" name="Table 5"/>
          <p:cNvGraphicFramePr>
            <a:graphicFrameLocks noGrp="1"/>
          </p:cNvGraphicFramePr>
          <p:nvPr/>
        </p:nvGraphicFramePr>
        <p:xfrm>
          <a:off x="548640" y="1280160"/>
          <a:ext cx="11094415" cy="3072384"/>
        </p:xfrm>
        <a:graphic>
          <a:graphicData uri="http://schemas.openxmlformats.org/drawingml/2006/table">
            <a:tbl>
              <a:tblPr firstRow="1" bandRow="1">
                <a:tableStyleId>{5C22544A-7EE6-4342-B048-85BDC9FD1C3A}</a:tableStyleId>
              </a:tblPr>
              <a:tblGrid>
                <a:gridCol w="4437766"/>
                <a:gridCol w="2218883"/>
                <a:gridCol w="2218883"/>
                <a:gridCol w="2218883"/>
              </a:tblGrid>
              <a:tr h="384048">
                <a:tc>
                  <a:txBody>
                    <a:bodyPr wrap="square"/>
                    <a:lstStyle/>
                    <a:p>
                      <a:pPr algn="l"/>
                      <a:r>
                        <a:rPr sz="1100" b="1">
                          <a:solidFill>
                            <a:srgbClr val="FFFFFF"/>
                          </a:solidFill>
                          <a:latin typeface="Calibri"/>
                        </a:rPr>
                        <a:t>Benchmark</a:t>
                      </a:r>
                    </a:p>
                  </a:txBody>
                  <a:tcPr marL="73152" marR="73152" marT="36576" marB="36576" anchor="ctr">
                    <a:solidFill>
                      <a:srgbClr val="17324D"/>
                    </a:solidFill>
                  </a:tcPr>
                </a:tc>
                <a:tc>
                  <a:txBody>
                    <a:bodyPr wrap="square"/>
                    <a:lstStyle/>
                    <a:p>
                      <a:pPr algn="r"/>
                      <a:r>
                        <a:rPr sz="1100" b="1">
                          <a:solidFill>
                            <a:srgbClr val="FFFFFF"/>
                          </a:solidFill>
                          <a:latin typeface="Calibri"/>
                        </a:rPr>
                        <a:t>Quarter</a:t>
                      </a:r>
                    </a:p>
                  </a:txBody>
                  <a:tcPr marL="73152" marR="73152" marT="36576" marB="36576" anchor="ctr">
                    <a:solidFill>
                      <a:srgbClr val="17324D"/>
                    </a:solidFill>
                  </a:tcPr>
                </a:tc>
                <a:tc>
                  <a:txBody>
                    <a:bodyPr wrap="square"/>
                    <a:lstStyle/>
                    <a:p>
                      <a:pPr algn="r"/>
                      <a:r>
                        <a:rPr sz="1100" b="1">
                          <a:solidFill>
                            <a:srgbClr val="FFFFFF"/>
                          </a:solidFill>
                          <a:latin typeface="Calibri"/>
                        </a:rPr>
                        <a:t>1 year</a:t>
                      </a:r>
                    </a:p>
                  </a:txBody>
                  <a:tcPr marL="73152" marR="73152" marT="36576" marB="36576" anchor="ctr">
                    <a:solidFill>
                      <a:srgbClr val="17324D"/>
                    </a:solidFill>
                  </a:tcPr>
                </a:tc>
                <a:tc>
                  <a:txBody>
                    <a:bodyPr wrap="square"/>
                    <a:lstStyle/>
                    <a:p>
                      <a:pPr algn="r"/>
                      <a:r>
                        <a:rPr sz="1100" b="1">
                          <a:solidFill>
                            <a:srgbClr val="FFFFFF"/>
                          </a:solidFill>
                          <a:latin typeface="Calibri"/>
                        </a:rPr>
                        <a:t>3 years p.a.</a:t>
                      </a:r>
                    </a:p>
                  </a:txBody>
                  <a:tcPr marL="73152" marR="73152" marT="36576" marB="36576" anchor="ctr">
                    <a:solidFill>
                      <a:srgbClr val="17324D"/>
                    </a:solidFill>
                  </a:tcPr>
                </a:tc>
              </a:tr>
              <a:tr h="384048">
                <a:tc>
                  <a:txBody>
                    <a:bodyPr wrap="square"/>
                    <a:lstStyle/>
                    <a:p>
                      <a:pPr algn="l"/>
                      <a:r>
                        <a:rPr sz="1100" b="0">
                          <a:solidFill>
                            <a:srgbClr val="1B1B1B"/>
                          </a:solidFill>
                          <a:latin typeface="Calibri"/>
                        </a:rPr>
                        <a:t>Global equity index (GBP)</a:t>
                      </a:r>
                    </a:p>
                  </a:txBody>
                  <a:tcPr marL="73152" marR="73152" marT="36576" marB="36576" anchor="ctr">
                    <a:solidFill>
                      <a:srgbClr val="FFFFFF"/>
                    </a:solidFill>
                  </a:tcPr>
                </a:tc>
                <a:tc>
                  <a:txBody>
                    <a:bodyPr wrap="square"/>
                    <a:lstStyle/>
                    <a:p>
                      <a:pPr algn="r"/>
                      <a:r>
                        <a:rPr sz="1100" b="0">
                          <a:solidFill>
                            <a:srgbClr val="1B1B1B"/>
                          </a:solidFill>
                          <a:latin typeface="Calibri"/>
                        </a:rPr>
                        <a:t>9.86%</a:t>
                      </a:r>
                    </a:p>
                  </a:txBody>
                  <a:tcPr marL="73152" marR="73152" marT="36576" marB="36576" anchor="ctr">
                    <a:solidFill>
                      <a:srgbClr val="FFFFFF"/>
                    </a:solidFill>
                  </a:tcPr>
                </a:tc>
                <a:tc>
                  <a:txBody>
                    <a:bodyPr wrap="square"/>
                    <a:lstStyle/>
                    <a:p>
                      <a:pPr algn="r"/>
                      <a:r>
                        <a:rPr sz="1100" b="0">
                          <a:solidFill>
                            <a:srgbClr val="1B1B1B"/>
                          </a:solidFill>
                          <a:latin typeface="Calibri"/>
                        </a:rPr>
                        <a:t>28.23%</a:t>
                      </a:r>
                    </a:p>
                  </a:txBody>
                  <a:tcPr marL="73152" marR="73152" marT="36576" marB="36576" anchor="ctr">
                    <a:solidFill>
                      <a:srgbClr val="FFFFFF"/>
                    </a:solidFill>
                  </a:tcPr>
                </a:tc>
                <a:tc>
                  <a:txBody>
                    <a:bodyPr wrap="square"/>
                    <a:lstStyle/>
                    <a:p>
                      <a:pPr algn="r"/>
                      <a:r>
                        <a:rPr sz="1100" b="0">
                          <a:solidFill>
                            <a:srgbClr val="1B1B1B"/>
                          </a:solidFill>
                          <a:latin typeface="Calibri"/>
                        </a:rPr>
                        <a:t>19.41%</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EM equity index (GBP)</a:t>
                      </a:r>
                    </a:p>
                  </a:txBody>
                  <a:tcPr marL="73152" marR="73152" marT="36576" marB="36576" anchor="ctr">
                    <a:solidFill>
                      <a:srgbClr val="FAFAF8"/>
                    </a:solidFill>
                  </a:tcPr>
                </a:tc>
                <a:tc>
                  <a:txBody>
                    <a:bodyPr wrap="square"/>
                    <a:lstStyle/>
                    <a:p>
                      <a:pPr algn="r"/>
                      <a:r>
                        <a:rPr sz="1100" b="0">
                          <a:solidFill>
                            <a:srgbClr val="1B1B1B"/>
                          </a:solidFill>
                          <a:latin typeface="Calibri"/>
                        </a:rPr>
                        <a:t>-2.37%</a:t>
                      </a:r>
                    </a:p>
                  </a:txBody>
                  <a:tcPr marL="73152" marR="73152" marT="36576" marB="36576" anchor="ctr">
                    <a:solidFill>
                      <a:srgbClr val="FAFAF8"/>
                    </a:solidFill>
                  </a:tcPr>
                </a:tc>
                <a:tc>
                  <a:txBody>
                    <a:bodyPr wrap="square"/>
                    <a:lstStyle/>
                    <a:p>
                      <a:pPr algn="r"/>
                      <a:r>
                        <a:rPr sz="1100" b="0">
                          <a:solidFill>
                            <a:srgbClr val="1B1B1B"/>
                          </a:solidFill>
                          <a:latin typeface="Calibri"/>
                        </a:rPr>
                        <a:t>20.92%</a:t>
                      </a:r>
                    </a:p>
                  </a:txBody>
                  <a:tcPr marL="73152" marR="73152" marT="36576" marB="36576" anchor="ctr">
                    <a:solidFill>
                      <a:srgbClr val="FAFAF8"/>
                    </a:solidFill>
                  </a:tcPr>
                </a:tc>
                <a:tc>
                  <a:txBody>
                    <a:bodyPr wrap="square"/>
                    <a:lstStyle/>
                    <a:p>
                      <a:pPr algn="r"/>
                      <a:r>
                        <a:rPr sz="1100" b="0">
                          <a:solidFill>
                            <a:srgbClr val="1B1B1B"/>
                          </a:solidFill>
                          <a:latin typeface="Calibri"/>
                        </a:rPr>
                        <a:t>17.11%</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SONIA + 4% p.a.</a:t>
                      </a:r>
                    </a:p>
                  </a:txBody>
                  <a:tcPr marL="73152" marR="73152" marT="36576" marB="36576" anchor="ctr">
                    <a:solidFill>
                      <a:srgbClr val="FFFFFF"/>
                    </a:solidFill>
                  </a:tcPr>
                </a:tc>
                <a:tc>
                  <a:txBody>
                    <a:bodyPr wrap="square"/>
                    <a:lstStyle/>
                    <a:p>
                      <a:pPr algn="r"/>
                      <a:r>
                        <a:rPr sz="1100" b="0">
                          <a:solidFill>
                            <a:srgbClr val="1B1B1B"/>
                          </a:solidFill>
                          <a:latin typeface="Calibri"/>
                        </a:rPr>
                        <a:t>4.94%</a:t>
                      </a:r>
                    </a:p>
                  </a:txBody>
                  <a:tcPr marL="73152" marR="73152" marT="36576" marB="36576" anchor="ctr">
                    <a:solidFill>
                      <a:srgbClr val="FFFFFF"/>
                    </a:solidFill>
                  </a:tcPr>
                </a:tc>
                <a:tc>
                  <a:txBody>
                    <a:bodyPr wrap="square"/>
                    <a:lstStyle/>
                    <a:p>
                      <a:pPr algn="r"/>
                      <a:r>
                        <a:rPr sz="1100" b="0">
                          <a:solidFill>
                            <a:srgbClr val="1B1B1B"/>
                          </a:solidFill>
                          <a:latin typeface="Calibri"/>
                        </a:rPr>
                        <a:t>12.45%</a:t>
                      </a:r>
                    </a:p>
                  </a:txBody>
                  <a:tcPr marL="73152" marR="73152" marT="36576" marB="36576" anchor="ctr">
                    <a:solidFill>
                      <a:srgbClr val="FFFFFF"/>
                    </a:solidFill>
                  </a:tcPr>
                </a:tc>
                <a:tc>
                  <a:txBody>
                    <a:bodyPr wrap="square"/>
                    <a:lstStyle/>
                    <a:p>
                      <a:pPr algn="r"/>
                      <a:r>
                        <a:rPr sz="1100" b="0">
                          <a:solidFill>
                            <a:srgbClr val="1B1B1B"/>
                          </a:solidFill>
                          <a:latin typeface="Calibri"/>
                        </a:rPr>
                        <a:t>12.14%</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UK property index</a:t>
                      </a:r>
                    </a:p>
                  </a:txBody>
                  <a:tcPr marL="73152" marR="73152" marT="36576" marB="36576" anchor="ctr">
                    <a:solidFill>
                      <a:srgbClr val="FAFAF8"/>
                    </a:solidFill>
                  </a:tcPr>
                </a:tc>
                <a:tc>
                  <a:txBody>
                    <a:bodyPr wrap="square"/>
                    <a:lstStyle/>
                    <a:p>
                      <a:pPr algn="r"/>
                      <a:r>
                        <a:rPr sz="1100" b="0">
                          <a:solidFill>
                            <a:srgbClr val="1B1B1B"/>
                          </a:solidFill>
                          <a:latin typeface="Calibri"/>
                        </a:rPr>
                        <a:t>0.98%</a:t>
                      </a:r>
                    </a:p>
                  </a:txBody>
                  <a:tcPr marL="73152" marR="73152" marT="36576" marB="36576" anchor="ctr">
                    <a:solidFill>
                      <a:srgbClr val="FAFAF8"/>
                    </a:solidFill>
                  </a:tcPr>
                </a:tc>
                <a:tc>
                  <a:txBody>
                    <a:bodyPr wrap="square"/>
                    <a:lstStyle/>
                    <a:p>
                      <a:pPr algn="r"/>
                      <a:r>
                        <a:rPr sz="1100" b="0">
                          <a:solidFill>
                            <a:srgbClr val="1B1B1B"/>
                          </a:solidFill>
                          <a:latin typeface="Calibri"/>
                        </a:rPr>
                        <a:t>12.50%</a:t>
                      </a:r>
                    </a:p>
                  </a:txBody>
                  <a:tcPr marL="73152" marR="73152" marT="36576" marB="36576" anchor="ctr">
                    <a:solidFill>
                      <a:srgbClr val="FAFAF8"/>
                    </a:solidFill>
                  </a:tcPr>
                </a:tc>
                <a:tc>
                  <a:txBody>
                    <a:bodyPr wrap="square"/>
                    <a:lstStyle/>
                    <a:p>
                      <a:pPr algn="r"/>
                      <a:r>
                        <a:rPr sz="1100" b="0">
                          <a:solidFill>
                            <a:srgbClr val="1B1B1B"/>
                          </a:solidFill>
                          <a:latin typeface="Calibri"/>
                        </a:rPr>
                        <a:t>17.36%</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Sterling corporate bond index</a:t>
                      </a:r>
                    </a:p>
                  </a:txBody>
                  <a:tcPr marL="73152" marR="73152" marT="36576" marB="36576" anchor="ctr">
                    <a:solidFill>
                      <a:srgbClr val="FFFFFF"/>
                    </a:solidFill>
                  </a:tcPr>
                </a:tc>
                <a:tc>
                  <a:txBody>
                    <a:bodyPr wrap="square"/>
                    <a:lstStyle/>
                    <a:p>
                      <a:pPr algn="r"/>
                      <a:r>
                        <a:rPr sz="1100" b="0">
                          <a:solidFill>
                            <a:srgbClr val="1B1B1B"/>
                          </a:solidFill>
                          <a:latin typeface="Calibri"/>
                        </a:rPr>
                        <a:t>2.64%</a:t>
                      </a:r>
                    </a:p>
                  </a:txBody>
                  <a:tcPr marL="73152" marR="73152" marT="36576" marB="36576" anchor="ctr">
                    <a:solidFill>
                      <a:srgbClr val="FFFFFF"/>
                    </a:solidFill>
                  </a:tcPr>
                </a:tc>
                <a:tc>
                  <a:txBody>
                    <a:bodyPr wrap="square"/>
                    <a:lstStyle/>
                    <a:p>
                      <a:pPr algn="r"/>
                      <a:r>
                        <a:rPr sz="1100" b="0">
                          <a:solidFill>
                            <a:srgbClr val="1B1B1B"/>
                          </a:solidFill>
                          <a:latin typeface="Calibri"/>
                        </a:rPr>
                        <a:t>2.95%</a:t>
                      </a:r>
                    </a:p>
                  </a:txBody>
                  <a:tcPr marL="73152" marR="73152" marT="36576" marB="36576" anchor="ctr">
                    <a:solidFill>
                      <a:srgbClr val="FFFFFF"/>
                    </a:solidFill>
                  </a:tcPr>
                </a:tc>
                <a:tc>
                  <a:txBody>
                    <a:bodyPr wrap="square"/>
                    <a:lstStyle/>
                    <a:p>
                      <a:pPr algn="r"/>
                      <a:r>
                        <a:rPr sz="1100" b="0">
                          <a:solidFill>
                            <a:srgbClr val="1B1B1B"/>
                          </a:solidFill>
                          <a:latin typeface="Calibri"/>
                        </a:rPr>
                        <a:t>5.57%</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Scheme liability benchmark</a:t>
                      </a:r>
                    </a:p>
                  </a:txBody>
                  <a:tcPr marL="73152" marR="73152" marT="36576" marB="36576" anchor="ctr">
                    <a:solidFill>
                      <a:srgbClr val="FAFAF8"/>
                    </a:solidFill>
                  </a:tcPr>
                </a:tc>
                <a:tc>
                  <a:txBody>
                    <a:bodyPr wrap="square"/>
                    <a:lstStyle/>
                    <a:p>
                      <a:pPr algn="r"/>
                      <a:r>
                        <a:rPr sz="1100" b="0">
                          <a:solidFill>
                            <a:srgbClr val="1B1B1B"/>
                          </a:solidFill>
                          <a:latin typeface="Calibri"/>
                        </a:rPr>
                        <a:t>3.18%</a:t>
                      </a:r>
                    </a:p>
                  </a:txBody>
                  <a:tcPr marL="73152" marR="73152" marT="36576" marB="36576" anchor="ctr">
                    <a:solidFill>
                      <a:srgbClr val="FAFAF8"/>
                    </a:solidFill>
                  </a:tcPr>
                </a:tc>
                <a:tc>
                  <a:txBody>
                    <a:bodyPr wrap="square"/>
                    <a:lstStyle/>
                    <a:p>
                      <a:pPr algn="r"/>
                      <a:r>
                        <a:rPr sz="1100" b="0">
                          <a:solidFill>
                            <a:srgbClr val="1B1B1B"/>
                          </a:solidFill>
                          <a:latin typeface="Calibri"/>
                        </a:rPr>
                        <a:t>1.31%</a:t>
                      </a:r>
                    </a:p>
                  </a:txBody>
                  <a:tcPr marL="73152" marR="73152" marT="36576" marB="36576" anchor="ctr">
                    <a:solidFill>
                      <a:srgbClr val="FAFAF8"/>
                    </a:solidFill>
                  </a:tcPr>
                </a:tc>
                <a:tc>
                  <a:txBody>
                    <a:bodyPr wrap="square"/>
                    <a:lstStyle/>
                    <a:p>
                      <a:pPr algn="r"/>
                      <a:r>
                        <a:rPr sz="1100" b="0">
                          <a:solidFill>
                            <a:srgbClr val="1B1B1B"/>
                          </a:solidFill>
                          <a:latin typeface="Calibri"/>
                        </a:rPr>
                        <a:t>-3.59%</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Total benchmark</a:t>
                      </a:r>
                    </a:p>
                  </a:txBody>
                  <a:tcPr marL="73152" marR="73152" marT="36576" marB="36576" anchor="ctr">
                    <a:solidFill>
                      <a:srgbClr val="FFFFFF"/>
                    </a:solidFill>
                  </a:tcPr>
                </a:tc>
                <a:tc>
                  <a:txBody>
                    <a:bodyPr wrap="square"/>
                    <a:lstStyle/>
                    <a:p>
                      <a:pPr algn="r"/>
                      <a:r>
                        <a:rPr sz="1100" b="0">
                          <a:solidFill>
                            <a:srgbClr val="1B1B1B"/>
                          </a:solidFill>
                          <a:latin typeface="Calibri"/>
                        </a:rPr>
                        <a:t>4.32%</a:t>
                      </a:r>
                    </a:p>
                  </a:txBody>
                  <a:tcPr marL="73152" marR="73152" marT="36576" marB="36576" anchor="ctr">
                    <a:solidFill>
                      <a:srgbClr val="FFFFFF"/>
                    </a:solidFill>
                  </a:tcPr>
                </a:tc>
                <a:tc>
                  <a:txBody>
                    <a:bodyPr wrap="square"/>
                    <a:lstStyle/>
                    <a:p>
                      <a:pPr algn="r"/>
                      <a:r>
                        <a:rPr sz="1100" b="0">
                          <a:solidFill>
                            <a:srgbClr val="1B1B1B"/>
                          </a:solidFill>
                          <a:latin typeface="Calibri"/>
                        </a:rPr>
                        <a:t>12.44%</a:t>
                      </a:r>
                    </a:p>
                  </a:txBody>
                  <a:tcPr marL="73152" marR="73152" marT="36576" marB="36576" anchor="ctr">
                    <a:solidFill>
                      <a:srgbClr val="FFFFFF"/>
                    </a:solidFill>
                  </a:tcPr>
                </a:tc>
                <a:tc>
                  <a:txBody>
                    <a:bodyPr wrap="square"/>
                    <a:lstStyle/>
                    <a:p>
                      <a:pPr algn="r"/>
                      <a:r>
                        <a:rPr sz="1100" b="0">
                          <a:solidFill>
                            <a:srgbClr val="1B1B1B"/>
                          </a:solidFill>
                          <a:latin typeface="Calibri"/>
                        </a:rPr>
                        <a:t>9.34%</a:t>
                      </a:r>
                    </a:p>
                  </a:txBody>
                  <a:tcPr marL="73152" marR="73152" marT="36576" marB="36576"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Cumulative performance since inception</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6</a:t>
            </a:r>
          </a:p>
        </p:txBody>
      </p:sp>
      <p:pic>
        <p:nvPicPr>
          <p:cNvPr id="6" name="Picture 5" descr="cumulative.png"/>
          <p:cNvPicPr>
            <a:picLocks noChangeAspect="1"/>
          </p:cNvPicPr>
          <p:nvPr/>
        </p:nvPicPr>
        <p:blipFill>
          <a:blip r:embed="rId2"/>
          <a:stretch>
            <a:fillRect/>
          </a:stretch>
        </p:blipFill>
        <p:spPr>
          <a:xfrm>
            <a:off x="1003782" y="1188720"/>
            <a:ext cx="10184130" cy="4526280"/>
          </a:xfrm>
          <a:prstGeom prst="rect">
            <a:avLst/>
          </a:prstGeom>
        </p:spPr>
      </p:pic>
      <p:sp>
        <p:nvSpPr>
          <p:cNvPr id="7" name="TextBox 6"/>
          <p:cNvSpPr txBox="1"/>
          <p:nvPr/>
        </p:nvSpPr>
        <p:spPr>
          <a:xfrm>
            <a:off x="548640" y="5788152"/>
            <a:ext cx="11094415" cy="320040"/>
          </a:xfrm>
          <a:prstGeom prst="rect">
            <a:avLst/>
          </a:prstGeom>
          <a:noFill/>
        </p:spPr>
        <p:txBody>
          <a:bodyPr wrap="square" anchor="t" lIns="0" rIns="0">
            <a:spAutoFit/>
          </a:bodyPr>
          <a:lstStyle/>
          <a:p>
            <a:pPr algn="l"/>
            <a:r>
              <a:rPr sz="1100" b="0" i="1">
                <a:solidFill>
                  <a:srgbClr val="8A8984"/>
                </a:solidFill>
                <a:latin typeface="Calibri"/>
              </a:rPr>
              <a:t>Growth of the total fund vs its strategic benchmark, cumulative since start of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Attribution by mandate (1 year)</a:t>
            </a:r>
          </a:p>
        </p:txBody>
      </p:sp>
      <p:sp>
        <p:nvSpPr>
          <p:cNvPr id="4" name="TextBox 3"/>
          <p:cNvSpPr txBox="1"/>
          <p:nvPr/>
        </p:nvSpPr>
        <p:spPr>
          <a:xfrm>
            <a:off x="548640" y="960120"/>
            <a:ext cx="11094415" cy="548640"/>
          </a:xfrm>
          <a:prstGeom prst="rect">
            <a:avLst/>
          </a:prstGeom>
          <a:noFill/>
        </p:spPr>
        <p:txBody>
          <a:bodyPr wrap="square" anchor="t" lIns="0" rIns="0">
            <a:spAutoFit/>
          </a:bodyPr>
          <a:lstStyle/>
          <a:p>
            <a:pPr algn="l"/>
            <a:r>
              <a:rPr sz="1300" b="0" i="0">
                <a:solidFill>
                  <a:srgbClr val="52514E"/>
                </a:solidFill>
                <a:latin typeface="Calibri"/>
              </a:rPr>
              <a:t>Over 1 year, the fund underperformed its benchmark by 0.68%. Allocation measures the effect of holding more or less than the strategic weight in each asset class; selection measures each manager against its own benchmark.</a:t>
            </a:r>
          </a:p>
        </p:txBody>
      </p:sp>
      <p:sp>
        <p:nvSpPr>
          <p:cNvPr id="5" name="TextBox 4"/>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6" name="TextBox 5"/>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7</a:t>
            </a:r>
          </a:p>
        </p:txBody>
      </p:sp>
      <p:pic>
        <p:nvPicPr>
          <p:cNvPr id="7" name="Picture 6" descr="attribution.png"/>
          <p:cNvPicPr>
            <a:picLocks noChangeAspect="1"/>
          </p:cNvPicPr>
          <p:nvPr/>
        </p:nvPicPr>
        <p:blipFill>
          <a:blip r:embed="rId2"/>
          <a:stretch>
            <a:fillRect/>
          </a:stretch>
        </p:blipFill>
        <p:spPr>
          <a:xfrm>
            <a:off x="2002149" y="1600200"/>
            <a:ext cx="8187396" cy="44348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What drove relative performance?</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8</a:t>
            </a:r>
          </a:p>
        </p:txBody>
      </p:sp>
      <p:graphicFrame>
        <p:nvGraphicFramePr>
          <p:cNvPr id="6" name="Table 5"/>
          <p:cNvGraphicFramePr>
            <a:graphicFrameLocks noGrp="1"/>
          </p:cNvGraphicFramePr>
          <p:nvPr/>
        </p:nvGraphicFramePr>
        <p:xfrm>
          <a:off x="548640" y="1280160"/>
          <a:ext cx="11094411" cy="3072384"/>
        </p:xfrm>
        <a:graphic>
          <a:graphicData uri="http://schemas.openxmlformats.org/drawingml/2006/table">
            <a:tbl>
              <a:tblPr firstRow="1" bandRow="1">
                <a:tableStyleId>{5C22544A-7EE6-4342-B048-85BDC9FD1C3A}</a:tableStyleId>
              </a:tblPr>
              <a:tblGrid>
                <a:gridCol w="2884547"/>
                <a:gridCol w="2052466"/>
                <a:gridCol w="2052466"/>
                <a:gridCol w="2052466"/>
                <a:gridCol w="2052466"/>
              </a:tblGrid>
              <a:tr h="384048">
                <a:tc>
                  <a:txBody>
                    <a:bodyPr wrap="square"/>
                    <a:lstStyle/>
                    <a:p>
                      <a:pPr algn="l"/>
                      <a:r>
                        <a:rPr sz="1100" b="1">
                          <a:solidFill>
                            <a:srgbClr val="FFFFFF"/>
                          </a:solidFill>
                          <a:latin typeface="Calibri"/>
                        </a:rPr>
                        <a:t>Mandate</a:t>
                      </a:r>
                    </a:p>
                  </a:txBody>
                  <a:tcPr marL="73152" marR="73152" marT="36576" marB="36576" anchor="ctr">
                    <a:solidFill>
                      <a:srgbClr val="17324D"/>
                    </a:solidFill>
                  </a:tcPr>
                </a:tc>
                <a:tc>
                  <a:txBody>
                    <a:bodyPr wrap="square"/>
                    <a:lstStyle/>
                    <a:p>
                      <a:pPr algn="r"/>
                      <a:r>
                        <a:rPr sz="1100" b="1">
                          <a:solidFill>
                            <a:srgbClr val="FFFFFF"/>
                          </a:solidFill>
                          <a:latin typeface="Calibri"/>
                        </a:rPr>
                        <a:t>Allocation</a:t>
                      </a:r>
                    </a:p>
                  </a:txBody>
                  <a:tcPr marL="73152" marR="73152" marT="36576" marB="36576" anchor="ctr">
                    <a:solidFill>
                      <a:srgbClr val="17324D"/>
                    </a:solidFill>
                  </a:tcPr>
                </a:tc>
                <a:tc>
                  <a:txBody>
                    <a:bodyPr wrap="square"/>
                    <a:lstStyle/>
                    <a:p>
                      <a:pPr algn="r"/>
                      <a:r>
                        <a:rPr sz="1100" b="1">
                          <a:solidFill>
                            <a:srgbClr val="FFFFFF"/>
                          </a:solidFill>
                          <a:latin typeface="Calibri"/>
                        </a:rPr>
                        <a:t>Selection</a:t>
                      </a:r>
                    </a:p>
                  </a:txBody>
                  <a:tcPr marL="73152" marR="73152" marT="36576" marB="36576" anchor="ctr">
                    <a:solidFill>
                      <a:srgbClr val="17324D"/>
                    </a:solidFill>
                  </a:tcPr>
                </a:tc>
                <a:tc>
                  <a:txBody>
                    <a:bodyPr wrap="square"/>
                    <a:lstStyle/>
                    <a:p>
                      <a:pPr algn="r"/>
                      <a:r>
                        <a:rPr sz="1100" b="1">
                          <a:solidFill>
                            <a:srgbClr val="FFFFFF"/>
                          </a:solidFill>
                          <a:latin typeface="Calibri"/>
                        </a:rPr>
                        <a:t>Interaction</a:t>
                      </a:r>
                    </a:p>
                  </a:txBody>
                  <a:tcPr marL="73152" marR="73152" marT="36576" marB="36576" anchor="ctr">
                    <a:solidFill>
                      <a:srgbClr val="17324D"/>
                    </a:solidFill>
                  </a:tcPr>
                </a:tc>
                <a:tc>
                  <a:txBody>
                    <a:bodyPr wrap="square"/>
                    <a:lstStyle/>
                    <a:p>
                      <a:pPr algn="r"/>
                      <a:r>
                        <a:rPr sz="1100" b="1">
                          <a:solidFill>
                            <a:srgbClr val="FFFFFF"/>
                          </a:solidFill>
                          <a:latin typeface="Calibri"/>
                        </a:rPr>
                        <a:t>Total</a:t>
                      </a:r>
                    </a:p>
                  </a:txBody>
                  <a:tcPr marL="73152" marR="73152" marT="36576" marB="36576" anchor="ctr">
                    <a:solidFill>
                      <a:srgbClr val="17324D"/>
                    </a:solidFill>
                  </a:tcPr>
                </a:tc>
              </a:tr>
              <a:tr h="384048">
                <a:tc>
                  <a:txBody>
                    <a:bodyPr wrap="square"/>
                    <a:lstStyle/>
                    <a:p>
                      <a:pPr algn="l"/>
                      <a:r>
                        <a:rPr sz="1100" b="0">
                          <a:solidFill>
                            <a:srgbClr val="1B1B1B"/>
                          </a:solidFill>
                          <a:latin typeface="Calibri"/>
                        </a:rPr>
                        <a:t>Global Equity</a:t>
                      </a:r>
                    </a:p>
                  </a:txBody>
                  <a:tcPr marL="73152" marR="73152" marT="36576" marB="36576" anchor="ctr">
                    <a:solidFill>
                      <a:srgbClr val="FFFFFF"/>
                    </a:solidFill>
                  </a:tcPr>
                </a:tc>
                <a:tc>
                  <a:txBody>
                    <a:bodyPr wrap="square"/>
                    <a:lstStyle/>
                    <a:p>
                      <a:pPr algn="r"/>
                      <a:r>
                        <a:rPr sz="1100" b="0">
                          <a:solidFill>
                            <a:srgbClr val="0B7A3E"/>
                          </a:solidFill>
                          <a:latin typeface="Calibri"/>
                        </a:rPr>
                        <a:t>+0.15%</a:t>
                      </a:r>
                    </a:p>
                  </a:txBody>
                  <a:tcPr marL="73152" marR="73152" marT="36576" marB="36576" anchor="ctr">
                    <a:solidFill>
                      <a:srgbClr val="FFFFFF"/>
                    </a:solidFill>
                  </a:tcPr>
                </a:tc>
                <a:tc>
                  <a:txBody>
                    <a:bodyPr wrap="square"/>
                    <a:lstStyle/>
                    <a:p>
                      <a:pPr algn="r"/>
                      <a:r>
                        <a:rPr sz="1100" b="0">
                          <a:solidFill>
                            <a:srgbClr val="C0392B"/>
                          </a:solidFill>
                          <a:latin typeface="Calibri"/>
                        </a:rPr>
                        <a:t>-0.46%</a:t>
                      </a:r>
                    </a:p>
                  </a:txBody>
                  <a:tcPr marL="73152" marR="73152" marT="36576" marB="36576" anchor="ctr">
                    <a:solidFill>
                      <a:srgbClr val="FFFFFF"/>
                    </a:solidFill>
                  </a:tcPr>
                </a:tc>
                <a:tc>
                  <a:txBody>
                    <a:bodyPr wrap="square"/>
                    <a:lstStyle/>
                    <a:p>
                      <a:pPr algn="r"/>
                      <a:r>
                        <a:rPr sz="1100" b="0">
                          <a:solidFill>
                            <a:srgbClr val="C0392B"/>
                          </a:solidFill>
                          <a:latin typeface="Calibri"/>
                        </a:rPr>
                        <a:t>-0.04%</a:t>
                      </a:r>
                    </a:p>
                  </a:txBody>
                  <a:tcPr marL="73152" marR="73152" marT="36576" marB="36576" anchor="ctr">
                    <a:solidFill>
                      <a:srgbClr val="FFFFFF"/>
                    </a:solidFill>
                  </a:tcPr>
                </a:tc>
                <a:tc>
                  <a:txBody>
                    <a:bodyPr wrap="square"/>
                    <a:lstStyle/>
                    <a:p>
                      <a:pPr algn="r"/>
                      <a:r>
                        <a:rPr sz="1100" b="0">
                          <a:solidFill>
                            <a:srgbClr val="C0392B"/>
                          </a:solidFill>
                          <a:latin typeface="Calibri"/>
                        </a:rPr>
                        <a:t>-0.36%</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Emerging Markets Equity</a:t>
                      </a:r>
                    </a:p>
                  </a:txBody>
                  <a:tcPr marL="73152" marR="73152" marT="36576" marB="36576" anchor="ctr">
                    <a:solidFill>
                      <a:srgbClr val="FAFAF8"/>
                    </a:solidFill>
                  </a:tcPr>
                </a:tc>
                <a:tc>
                  <a:txBody>
                    <a:bodyPr wrap="square"/>
                    <a:lstStyle/>
                    <a:p>
                      <a:pPr algn="r"/>
                      <a:r>
                        <a:rPr sz="1100" b="0">
                          <a:solidFill>
                            <a:srgbClr val="C0392B"/>
                          </a:solidFill>
                          <a:latin typeface="Calibri"/>
                        </a:rPr>
                        <a:t>-0.10%</a:t>
                      </a:r>
                    </a:p>
                  </a:txBody>
                  <a:tcPr marL="73152" marR="73152" marT="36576" marB="36576" anchor="ctr">
                    <a:solidFill>
                      <a:srgbClr val="FAFAF8"/>
                    </a:solidFill>
                  </a:tcPr>
                </a:tc>
                <a:tc>
                  <a:txBody>
                    <a:bodyPr wrap="square"/>
                    <a:lstStyle/>
                    <a:p>
                      <a:pPr algn="r"/>
                      <a:r>
                        <a:rPr sz="1100" b="0">
                          <a:solidFill>
                            <a:srgbClr val="C0392B"/>
                          </a:solidFill>
                          <a:latin typeface="Calibri"/>
                        </a:rPr>
                        <a:t>-0.57%</a:t>
                      </a:r>
                    </a:p>
                  </a:txBody>
                  <a:tcPr marL="73152" marR="73152" marT="36576" marB="36576" anchor="ctr">
                    <a:solidFill>
                      <a:srgbClr val="FAFAF8"/>
                    </a:solidFill>
                  </a:tcPr>
                </a:tc>
                <a:tc>
                  <a:txBody>
                    <a:bodyPr wrap="square"/>
                    <a:lstStyle/>
                    <a:p>
                      <a:pPr algn="r"/>
                      <a:r>
                        <a:rPr sz="1100" b="0">
                          <a:solidFill>
                            <a:srgbClr val="C0392B"/>
                          </a:solidFill>
                          <a:latin typeface="Calibri"/>
                        </a:rPr>
                        <a:t>-0.03%</a:t>
                      </a:r>
                    </a:p>
                  </a:txBody>
                  <a:tcPr marL="73152" marR="73152" marT="36576" marB="36576" anchor="ctr">
                    <a:solidFill>
                      <a:srgbClr val="FAFAF8"/>
                    </a:solidFill>
                  </a:tcPr>
                </a:tc>
                <a:tc>
                  <a:txBody>
                    <a:bodyPr wrap="square"/>
                    <a:lstStyle/>
                    <a:p>
                      <a:pPr algn="r"/>
                      <a:r>
                        <a:rPr sz="1100" b="0">
                          <a:solidFill>
                            <a:srgbClr val="C0392B"/>
                          </a:solidFill>
                          <a:latin typeface="Calibri"/>
                        </a:rPr>
                        <a:t>-0.71%</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Diversified Growth</a:t>
                      </a:r>
                    </a:p>
                  </a:txBody>
                  <a:tcPr marL="73152" marR="73152" marT="36576" marB="36576" anchor="ctr">
                    <a:solidFill>
                      <a:srgbClr val="FFFFFF"/>
                    </a:solidFill>
                  </a:tcPr>
                </a:tc>
                <a:tc>
                  <a:txBody>
                    <a:bodyPr wrap="square"/>
                    <a:lstStyle/>
                    <a:p>
                      <a:pPr algn="r"/>
                      <a:r>
                        <a:rPr sz="1100" b="0">
                          <a:solidFill>
                            <a:srgbClr val="C0392B"/>
                          </a:solidFill>
                          <a:latin typeface="Calibri"/>
                        </a:rPr>
                        <a:t>-0.01%</a:t>
                      </a:r>
                    </a:p>
                  </a:txBody>
                  <a:tcPr marL="73152" marR="73152" marT="36576" marB="36576" anchor="ctr">
                    <a:solidFill>
                      <a:srgbClr val="FFFFFF"/>
                    </a:solidFill>
                  </a:tcPr>
                </a:tc>
                <a:tc>
                  <a:txBody>
                    <a:bodyPr wrap="square"/>
                    <a:lstStyle/>
                    <a:p>
                      <a:pPr algn="r"/>
                      <a:r>
                        <a:rPr sz="1100" b="0">
                          <a:solidFill>
                            <a:srgbClr val="C0392B"/>
                          </a:solidFill>
                          <a:latin typeface="Calibri"/>
                        </a:rPr>
                        <a:t>-0.21%</a:t>
                      </a:r>
                    </a:p>
                  </a:txBody>
                  <a:tcPr marL="73152" marR="73152" marT="36576" marB="36576" anchor="ctr">
                    <a:solidFill>
                      <a:srgbClr val="FFFFFF"/>
                    </a:solidFill>
                  </a:tcPr>
                </a:tc>
                <a:tc>
                  <a:txBody>
                    <a:bodyPr wrap="square"/>
                    <a:lstStyle/>
                    <a:p>
                      <a:pPr algn="r"/>
                      <a:r>
                        <a:rPr sz="1100" b="0">
                          <a:solidFill>
                            <a:srgbClr val="C0392B"/>
                          </a:solidFill>
                          <a:latin typeface="Calibri"/>
                        </a:rPr>
                        <a:t>-0.02%</a:t>
                      </a:r>
                    </a:p>
                  </a:txBody>
                  <a:tcPr marL="73152" marR="73152" marT="36576" marB="36576" anchor="ctr">
                    <a:solidFill>
                      <a:srgbClr val="FFFFFF"/>
                    </a:solidFill>
                  </a:tcPr>
                </a:tc>
                <a:tc>
                  <a:txBody>
                    <a:bodyPr wrap="square"/>
                    <a:lstStyle/>
                    <a:p>
                      <a:pPr algn="r"/>
                      <a:r>
                        <a:rPr sz="1100" b="0">
                          <a:solidFill>
                            <a:srgbClr val="C0392B"/>
                          </a:solidFill>
                          <a:latin typeface="Calibri"/>
                        </a:rPr>
                        <a:t>-0.23%</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UK Property</a:t>
                      </a:r>
                    </a:p>
                  </a:txBody>
                  <a:tcPr marL="73152" marR="73152" marT="36576" marB="36576" anchor="ctr">
                    <a:solidFill>
                      <a:srgbClr val="FAFAF8"/>
                    </a:solidFill>
                  </a:tcPr>
                </a:tc>
                <a:tc>
                  <a:txBody>
                    <a:bodyPr wrap="square"/>
                    <a:lstStyle/>
                    <a:p>
                      <a:pPr algn="r"/>
                      <a:r>
                        <a:rPr sz="1100" b="0">
                          <a:solidFill>
                            <a:srgbClr val="1B1B1B"/>
                          </a:solidFill>
                          <a:latin typeface="Calibri"/>
                        </a:rPr>
                        <a:t>+0.00%</a:t>
                      </a:r>
                    </a:p>
                  </a:txBody>
                  <a:tcPr marL="73152" marR="73152" marT="36576" marB="36576" anchor="ctr">
                    <a:solidFill>
                      <a:srgbClr val="FAFAF8"/>
                    </a:solidFill>
                  </a:tcPr>
                </a:tc>
                <a:tc>
                  <a:txBody>
                    <a:bodyPr wrap="square"/>
                    <a:lstStyle/>
                    <a:p>
                      <a:pPr algn="r"/>
                      <a:r>
                        <a:rPr sz="1100" b="0">
                          <a:solidFill>
                            <a:srgbClr val="0B7A3E"/>
                          </a:solidFill>
                          <a:latin typeface="Calibri"/>
                        </a:rPr>
                        <a:t>+0.19%</a:t>
                      </a:r>
                    </a:p>
                  </a:txBody>
                  <a:tcPr marL="73152" marR="73152" marT="36576" marB="36576" anchor="ctr">
                    <a:solidFill>
                      <a:srgbClr val="FAFAF8"/>
                    </a:solidFill>
                  </a:tcPr>
                </a:tc>
                <a:tc>
                  <a:txBody>
                    <a:bodyPr wrap="square"/>
                    <a:lstStyle/>
                    <a:p>
                      <a:pPr algn="r"/>
                      <a:r>
                        <a:rPr sz="1100" b="0">
                          <a:solidFill>
                            <a:srgbClr val="0B7A3E"/>
                          </a:solidFill>
                          <a:latin typeface="Calibri"/>
                        </a:rPr>
                        <a:t>+0.01%</a:t>
                      </a:r>
                    </a:p>
                  </a:txBody>
                  <a:tcPr marL="73152" marR="73152" marT="36576" marB="36576" anchor="ctr">
                    <a:solidFill>
                      <a:srgbClr val="FAFAF8"/>
                    </a:solidFill>
                  </a:tcPr>
                </a:tc>
                <a:tc>
                  <a:txBody>
                    <a:bodyPr wrap="square"/>
                    <a:lstStyle/>
                    <a:p>
                      <a:pPr algn="r"/>
                      <a:r>
                        <a:rPr sz="1100" b="0">
                          <a:solidFill>
                            <a:srgbClr val="0B7A3E"/>
                          </a:solidFill>
                          <a:latin typeface="Calibri"/>
                        </a:rPr>
                        <a:t>+0.20%</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Buy &amp; Maintain Credit</a:t>
                      </a:r>
                    </a:p>
                  </a:txBody>
                  <a:tcPr marL="73152" marR="73152" marT="36576" marB="36576" anchor="ctr">
                    <a:solidFill>
                      <a:srgbClr val="FFFFFF"/>
                    </a:solidFill>
                  </a:tcPr>
                </a:tc>
                <a:tc>
                  <a:txBody>
                    <a:bodyPr wrap="square"/>
                    <a:lstStyle/>
                    <a:p>
                      <a:pPr algn="r"/>
                      <a:r>
                        <a:rPr sz="1100" b="0">
                          <a:solidFill>
                            <a:srgbClr val="0B7A3E"/>
                          </a:solidFill>
                          <a:latin typeface="Calibri"/>
                        </a:rPr>
                        <a:t>+0.02%</a:t>
                      </a:r>
                    </a:p>
                  </a:txBody>
                  <a:tcPr marL="73152" marR="73152" marT="36576" marB="36576" anchor="ctr">
                    <a:solidFill>
                      <a:srgbClr val="FFFFFF"/>
                    </a:solidFill>
                  </a:tcPr>
                </a:tc>
                <a:tc>
                  <a:txBody>
                    <a:bodyPr wrap="square"/>
                    <a:lstStyle/>
                    <a:p>
                      <a:pPr algn="r"/>
                      <a:r>
                        <a:rPr sz="1100" b="0">
                          <a:solidFill>
                            <a:srgbClr val="0B7A3E"/>
                          </a:solidFill>
                          <a:latin typeface="Calibri"/>
                        </a:rPr>
                        <a:t>+0.28%</a:t>
                      </a:r>
                    </a:p>
                  </a:txBody>
                  <a:tcPr marL="73152" marR="73152" marT="36576" marB="36576" anchor="ctr">
                    <a:solidFill>
                      <a:srgbClr val="FFFFFF"/>
                    </a:solidFill>
                  </a:tcPr>
                </a:tc>
                <a:tc>
                  <a:txBody>
                    <a:bodyPr wrap="square"/>
                    <a:lstStyle/>
                    <a:p>
                      <a:pPr algn="r"/>
                      <a:r>
                        <a:rPr sz="1100" b="0">
                          <a:solidFill>
                            <a:srgbClr val="C0392B"/>
                          </a:solidFill>
                          <a:latin typeface="Calibri"/>
                        </a:rPr>
                        <a:t>-0.01%</a:t>
                      </a:r>
                    </a:p>
                  </a:txBody>
                  <a:tcPr marL="73152" marR="73152" marT="36576" marB="36576" anchor="ctr">
                    <a:solidFill>
                      <a:srgbClr val="FFFFFF"/>
                    </a:solidFill>
                  </a:tcPr>
                </a:tc>
                <a:tc>
                  <a:txBody>
                    <a:bodyPr wrap="square"/>
                    <a:lstStyle/>
                    <a:p>
                      <a:pPr algn="r"/>
                      <a:r>
                        <a:rPr sz="1100" b="0">
                          <a:solidFill>
                            <a:srgbClr val="0B7A3E"/>
                          </a:solidFill>
                          <a:latin typeface="Calibri"/>
                        </a:rPr>
                        <a:t>+0.29%</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Liability Driven Investment</a:t>
                      </a:r>
                    </a:p>
                  </a:txBody>
                  <a:tcPr marL="73152" marR="73152" marT="36576" marB="36576" anchor="ctr">
                    <a:solidFill>
                      <a:srgbClr val="FAFAF8"/>
                    </a:solidFill>
                  </a:tcPr>
                </a:tc>
                <a:tc>
                  <a:txBody>
                    <a:bodyPr wrap="square"/>
                    <a:lstStyle/>
                    <a:p>
                      <a:pPr algn="r"/>
                      <a:r>
                        <a:rPr sz="1100" b="0">
                          <a:solidFill>
                            <a:srgbClr val="0B7A3E"/>
                          </a:solidFill>
                          <a:latin typeface="Calibri"/>
                        </a:rPr>
                        <a:t>+0.15%</a:t>
                      </a:r>
                    </a:p>
                  </a:txBody>
                  <a:tcPr marL="73152" marR="73152" marT="36576" marB="36576" anchor="ctr">
                    <a:solidFill>
                      <a:srgbClr val="FAFAF8"/>
                    </a:solidFill>
                  </a:tcPr>
                </a:tc>
                <a:tc>
                  <a:txBody>
                    <a:bodyPr wrap="square"/>
                    <a:lstStyle/>
                    <a:p>
                      <a:pPr algn="r"/>
                      <a:r>
                        <a:rPr sz="1100" b="0">
                          <a:solidFill>
                            <a:srgbClr val="C0392B"/>
                          </a:solidFill>
                          <a:latin typeface="Calibri"/>
                        </a:rPr>
                        <a:t>-0.01%</a:t>
                      </a:r>
                    </a:p>
                  </a:txBody>
                  <a:tcPr marL="73152" marR="73152" marT="36576" marB="36576" anchor="ctr">
                    <a:solidFill>
                      <a:srgbClr val="FAFAF8"/>
                    </a:solidFill>
                  </a:tcPr>
                </a:tc>
                <a:tc>
                  <a:txBody>
                    <a:bodyPr wrap="square"/>
                    <a:lstStyle/>
                    <a:p>
                      <a:pPr algn="r"/>
                      <a:r>
                        <a:rPr sz="1100" b="0">
                          <a:solidFill>
                            <a:srgbClr val="C0392B"/>
                          </a:solidFill>
                          <a:latin typeface="Calibri"/>
                        </a:rPr>
                        <a:t>-0.01%</a:t>
                      </a:r>
                    </a:p>
                  </a:txBody>
                  <a:tcPr marL="73152" marR="73152" marT="36576" marB="36576" anchor="ctr">
                    <a:solidFill>
                      <a:srgbClr val="FAFAF8"/>
                    </a:solidFill>
                  </a:tcPr>
                </a:tc>
                <a:tc>
                  <a:txBody>
                    <a:bodyPr wrap="square"/>
                    <a:lstStyle/>
                    <a:p>
                      <a:pPr algn="r"/>
                      <a:r>
                        <a:rPr sz="1100" b="0">
                          <a:solidFill>
                            <a:srgbClr val="0B7A3E"/>
                          </a:solidFill>
                          <a:latin typeface="Calibri"/>
                        </a:rPr>
                        <a:t>+0.13%</a:t>
                      </a:r>
                    </a:p>
                  </a:txBody>
                  <a:tcPr marL="73152" marR="73152" marT="36576" marB="36576" anchor="ctr">
                    <a:solidFill>
                      <a:srgbClr val="FAFAF8"/>
                    </a:solidFill>
                  </a:tcPr>
                </a:tc>
              </a:tr>
              <a:tr h="384048">
                <a:tc>
                  <a:txBody>
                    <a:bodyPr wrap="square"/>
                    <a:lstStyle/>
                    <a:p>
                      <a:pPr algn="l"/>
                      <a:r>
                        <a:rPr sz="1100" b="1">
                          <a:solidFill>
                            <a:srgbClr val="1B1B1B"/>
                          </a:solidFill>
                          <a:latin typeface="Calibri"/>
                        </a:rPr>
                        <a:t>Total</a:t>
                      </a:r>
                    </a:p>
                  </a:txBody>
                  <a:tcPr marL="73152" marR="73152" marT="36576" marB="36576" anchor="ctr">
                    <a:solidFill>
                      <a:srgbClr val="F3F2EE"/>
                    </a:solidFill>
                  </a:tcPr>
                </a:tc>
                <a:tc>
                  <a:txBody>
                    <a:bodyPr wrap="square"/>
                    <a:lstStyle/>
                    <a:p>
                      <a:pPr algn="r"/>
                      <a:r>
                        <a:rPr sz="1100" b="1">
                          <a:solidFill>
                            <a:srgbClr val="0B7A3E"/>
                          </a:solidFill>
                          <a:latin typeface="Calibri"/>
                        </a:rPr>
                        <a:t>+0.21%</a:t>
                      </a:r>
                    </a:p>
                  </a:txBody>
                  <a:tcPr marL="73152" marR="73152" marT="36576" marB="36576" anchor="ctr">
                    <a:solidFill>
                      <a:srgbClr val="F3F2EE"/>
                    </a:solidFill>
                  </a:tcPr>
                </a:tc>
                <a:tc>
                  <a:txBody>
                    <a:bodyPr wrap="square"/>
                    <a:lstStyle/>
                    <a:p>
                      <a:pPr algn="r"/>
                      <a:r>
                        <a:rPr sz="1100" b="1">
                          <a:solidFill>
                            <a:srgbClr val="C0392B"/>
                          </a:solidFill>
                          <a:latin typeface="Calibri"/>
                        </a:rPr>
                        <a:t>-0.79%</a:t>
                      </a:r>
                    </a:p>
                  </a:txBody>
                  <a:tcPr marL="73152" marR="73152" marT="36576" marB="36576" anchor="ctr">
                    <a:solidFill>
                      <a:srgbClr val="F3F2EE"/>
                    </a:solidFill>
                  </a:tcPr>
                </a:tc>
                <a:tc>
                  <a:txBody>
                    <a:bodyPr wrap="square"/>
                    <a:lstStyle/>
                    <a:p>
                      <a:pPr algn="r"/>
                      <a:r>
                        <a:rPr sz="1100" b="1">
                          <a:solidFill>
                            <a:srgbClr val="C0392B"/>
                          </a:solidFill>
                          <a:latin typeface="Calibri"/>
                        </a:rPr>
                        <a:t>-0.10%</a:t>
                      </a:r>
                    </a:p>
                  </a:txBody>
                  <a:tcPr marL="73152" marR="73152" marT="36576" marB="36576" anchor="ctr">
                    <a:solidFill>
                      <a:srgbClr val="F3F2EE"/>
                    </a:solidFill>
                  </a:tcPr>
                </a:tc>
                <a:tc>
                  <a:txBody>
                    <a:bodyPr wrap="square"/>
                    <a:lstStyle/>
                    <a:p>
                      <a:pPr algn="r"/>
                      <a:r>
                        <a:rPr sz="1100" b="1">
                          <a:solidFill>
                            <a:srgbClr val="C0392B"/>
                          </a:solidFill>
                          <a:latin typeface="Calibri"/>
                        </a:rPr>
                        <a:t>-0.68%</a:t>
                      </a:r>
                    </a:p>
                  </a:txBody>
                  <a:tcPr marL="73152" marR="73152" marT="36576" marB="36576" anchor="ctr">
                    <a:solidFill>
                      <a:srgbClr val="F3F2EE"/>
                    </a:solidFill>
                  </a:tcPr>
                </a:tc>
              </a:tr>
            </a:tbl>
          </a:graphicData>
        </a:graphic>
      </p:graphicFrame>
      <p:sp>
        <p:nvSpPr>
          <p:cNvPr id="7" name="TextBox 6"/>
          <p:cNvSpPr txBox="1"/>
          <p:nvPr/>
        </p:nvSpPr>
        <p:spPr>
          <a:xfrm>
            <a:off x="548640" y="5897880"/>
            <a:ext cx="11094415" cy="457200"/>
          </a:xfrm>
          <a:prstGeom prst="rect">
            <a:avLst/>
          </a:prstGeom>
          <a:noFill/>
        </p:spPr>
        <p:txBody>
          <a:bodyPr wrap="square" anchor="t" lIns="0" rIns="0">
            <a:spAutoFit/>
          </a:bodyPr>
          <a:lstStyle/>
          <a:p>
            <a:pPr algn="l"/>
            <a:r>
              <a:rPr sz="1000" b="0" i="1">
                <a:solidFill>
                  <a:srgbClr val="8A8984"/>
                </a:solidFill>
                <a:latin typeface="Calibri"/>
              </a:rPr>
              <a:t>Brinson-Fachler attribution, monthly effects Carino-linked so they sum exactly to the compounded excess return (-0.68%).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Actual vs strategic allocation</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9</a:t>
            </a:r>
          </a:p>
        </p:txBody>
      </p:sp>
      <p:pic>
        <p:nvPicPr>
          <p:cNvPr id="6" name="Picture 5" descr="allocation.png"/>
          <p:cNvPicPr>
            <a:picLocks noChangeAspect="1"/>
          </p:cNvPicPr>
          <p:nvPr/>
        </p:nvPicPr>
        <p:blipFill>
          <a:blip r:embed="rId2"/>
          <a:stretch>
            <a:fillRect/>
          </a:stretch>
        </p:blipFill>
        <p:spPr>
          <a:xfrm>
            <a:off x="548640" y="1188720"/>
            <a:ext cx="11094415" cy="446858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Asset allocation vs strategy</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10</a:t>
            </a:r>
          </a:p>
        </p:txBody>
      </p:sp>
      <p:graphicFrame>
        <p:nvGraphicFramePr>
          <p:cNvPr id="6" name="Table 5"/>
          <p:cNvGraphicFramePr>
            <a:graphicFrameLocks noGrp="1"/>
          </p:cNvGraphicFramePr>
          <p:nvPr/>
        </p:nvGraphicFramePr>
        <p:xfrm>
          <a:off x="548640" y="1280160"/>
          <a:ext cx="11094411" cy="3072384"/>
        </p:xfrm>
        <a:graphic>
          <a:graphicData uri="http://schemas.openxmlformats.org/drawingml/2006/table">
            <a:tbl>
              <a:tblPr firstRow="1" bandRow="1">
                <a:tableStyleId>{5C22544A-7EE6-4342-B048-85BDC9FD1C3A}</a:tableStyleId>
              </a:tblPr>
              <a:tblGrid>
                <a:gridCol w="2884547"/>
                <a:gridCol w="2052466"/>
                <a:gridCol w="2052466"/>
                <a:gridCol w="2052466"/>
                <a:gridCol w="2052466"/>
              </a:tblGrid>
              <a:tr h="384048">
                <a:tc>
                  <a:txBody>
                    <a:bodyPr wrap="square"/>
                    <a:lstStyle/>
                    <a:p>
                      <a:pPr algn="l"/>
                      <a:r>
                        <a:rPr sz="1100" b="1">
                          <a:solidFill>
                            <a:srgbClr val="FFFFFF"/>
                          </a:solidFill>
                          <a:latin typeface="Calibri"/>
                        </a:rPr>
                        <a:t>Mandate</a:t>
                      </a:r>
                    </a:p>
                  </a:txBody>
                  <a:tcPr marL="73152" marR="73152" marT="36576" marB="36576" anchor="ctr">
                    <a:solidFill>
                      <a:srgbClr val="17324D"/>
                    </a:solidFill>
                  </a:tcPr>
                </a:tc>
                <a:tc>
                  <a:txBody>
                    <a:bodyPr wrap="square"/>
                    <a:lstStyle/>
                    <a:p>
                      <a:pPr algn="r"/>
                      <a:r>
                        <a:rPr sz="1100" b="1">
                          <a:solidFill>
                            <a:srgbClr val="FFFFFF"/>
                          </a:solidFill>
                          <a:latin typeface="Calibri"/>
                        </a:rPr>
                        <a:t>Value</a:t>
                      </a:r>
                    </a:p>
                  </a:txBody>
                  <a:tcPr marL="73152" marR="73152" marT="36576" marB="36576" anchor="ctr">
                    <a:solidFill>
                      <a:srgbClr val="17324D"/>
                    </a:solidFill>
                  </a:tcPr>
                </a:tc>
                <a:tc>
                  <a:txBody>
                    <a:bodyPr wrap="square"/>
                    <a:lstStyle/>
                    <a:p>
                      <a:pPr algn="r"/>
                      <a:r>
                        <a:rPr sz="1100" b="1">
                          <a:solidFill>
                            <a:srgbClr val="FFFFFF"/>
                          </a:solidFill>
                          <a:latin typeface="Calibri"/>
                        </a:rPr>
                        <a:t>Actual</a:t>
                      </a:r>
                    </a:p>
                  </a:txBody>
                  <a:tcPr marL="73152" marR="73152" marT="36576" marB="36576" anchor="ctr">
                    <a:solidFill>
                      <a:srgbClr val="17324D"/>
                    </a:solidFill>
                  </a:tcPr>
                </a:tc>
                <a:tc>
                  <a:txBody>
                    <a:bodyPr wrap="square"/>
                    <a:lstStyle/>
                    <a:p>
                      <a:pPr algn="r"/>
                      <a:r>
                        <a:rPr sz="1100" b="1">
                          <a:solidFill>
                            <a:srgbClr val="FFFFFF"/>
                          </a:solidFill>
                          <a:latin typeface="Calibri"/>
                        </a:rPr>
                        <a:t>Target</a:t>
                      </a:r>
                    </a:p>
                  </a:txBody>
                  <a:tcPr marL="73152" marR="73152" marT="36576" marB="36576" anchor="ctr">
                    <a:solidFill>
                      <a:srgbClr val="17324D"/>
                    </a:solidFill>
                  </a:tcPr>
                </a:tc>
                <a:tc>
                  <a:txBody>
                    <a:bodyPr wrap="square"/>
                    <a:lstStyle/>
                    <a:p>
                      <a:pPr algn="r"/>
                      <a:r>
                        <a:rPr sz="1100" b="1">
                          <a:solidFill>
                            <a:srgbClr val="FFFFFF"/>
                          </a:solidFill>
                          <a:latin typeface="Calibri"/>
                        </a:rPr>
                        <a:t>Deviation</a:t>
                      </a:r>
                    </a:p>
                  </a:txBody>
                  <a:tcPr marL="73152" marR="73152" marT="36576" marB="36576" anchor="ctr">
                    <a:solidFill>
                      <a:srgbClr val="17324D"/>
                    </a:solidFill>
                  </a:tcPr>
                </a:tc>
              </a:tr>
              <a:tr h="384048">
                <a:tc>
                  <a:txBody>
                    <a:bodyPr wrap="square"/>
                    <a:lstStyle/>
                    <a:p>
                      <a:pPr algn="l"/>
                      <a:r>
                        <a:rPr sz="1100" b="0">
                          <a:solidFill>
                            <a:srgbClr val="1B1B1B"/>
                          </a:solidFill>
                          <a:latin typeface="Calibri"/>
                        </a:rPr>
                        <a:t>Global Equity</a:t>
                      </a:r>
                    </a:p>
                  </a:txBody>
                  <a:tcPr marL="73152" marR="73152" marT="36576" marB="36576" anchor="ctr">
                    <a:solidFill>
                      <a:srgbClr val="FFFFFF"/>
                    </a:solidFill>
                  </a:tcPr>
                </a:tc>
                <a:tc>
                  <a:txBody>
                    <a:bodyPr wrap="square"/>
                    <a:lstStyle/>
                    <a:p>
                      <a:pPr algn="r"/>
                      <a:r>
                        <a:rPr sz="1100" b="0">
                          <a:solidFill>
                            <a:srgbClr val="1B1B1B"/>
                          </a:solidFill>
                          <a:latin typeface="Calibri"/>
                        </a:rPr>
                        <a:t>£429.0m</a:t>
                      </a:r>
                    </a:p>
                  </a:txBody>
                  <a:tcPr marL="73152" marR="73152" marT="36576" marB="36576" anchor="ctr">
                    <a:solidFill>
                      <a:srgbClr val="FFFFFF"/>
                    </a:solidFill>
                  </a:tcPr>
                </a:tc>
                <a:tc>
                  <a:txBody>
                    <a:bodyPr wrap="square"/>
                    <a:lstStyle/>
                    <a:p>
                      <a:pPr algn="r"/>
                      <a:r>
                        <a:rPr sz="1100" b="0">
                          <a:solidFill>
                            <a:srgbClr val="1B1B1B"/>
                          </a:solidFill>
                          <a:latin typeface="Calibri"/>
                        </a:rPr>
                        <a:t>27.92%</a:t>
                      </a:r>
                    </a:p>
                  </a:txBody>
                  <a:tcPr marL="73152" marR="73152" marT="36576" marB="36576" anchor="ctr">
                    <a:solidFill>
                      <a:srgbClr val="FFFFFF"/>
                    </a:solidFill>
                  </a:tcPr>
                </a:tc>
                <a:tc>
                  <a:txBody>
                    <a:bodyPr wrap="square"/>
                    <a:lstStyle/>
                    <a:p>
                      <a:pPr algn="r"/>
                      <a:r>
                        <a:rPr sz="1100" b="0">
                          <a:solidFill>
                            <a:srgbClr val="1B1B1B"/>
                          </a:solidFill>
                          <a:latin typeface="Calibri"/>
                        </a:rPr>
                        <a:t>25.00%</a:t>
                      </a:r>
                    </a:p>
                  </a:txBody>
                  <a:tcPr marL="73152" marR="73152" marT="36576" marB="36576" anchor="ctr">
                    <a:solidFill>
                      <a:srgbClr val="FFFFFF"/>
                    </a:solidFill>
                  </a:tcPr>
                </a:tc>
                <a:tc>
                  <a:txBody>
                    <a:bodyPr wrap="square"/>
                    <a:lstStyle/>
                    <a:p>
                      <a:pPr algn="r"/>
                      <a:r>
                        <a:rPr sz="1100" b="0">
                          <a:solidFill>
                            <a:srgbClr val="1B1B1B"/>
                          </a:solidFill>
                          <a:latin typeface="Calibri"/>
                        </a:rPr>
                        <a:t>+2.92%</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Emerging Markets Equity</a:t>
                      </a:r>
                    </a:p>
                  </a:txBody>
                  <a:tcPr marL="73152" marR="73152" marT="36576" marB="36576" anchor="ctr">
                    <a:solidFill>
                      <a:srgbClr val="FAFAF8"/>
                    </a:solidFill>
                  </a:tcPr>
                </a:tc>
                <a:tc>
                  <a:txBody>
                    <a:bodyPr wrap="square"/>
                    <a:lstStyle/>
                    <a:p>
                      <a:pPr algn="r"/>
                      <a:r>
                        <a:rPr sz="1100" b="0">
                          <a:solidFill>
                            <a:srgbClr val="1B1B1B"/>
                          </a:solidFill>
                          <a:latin typeface="Calibri"/>
                        </a:rPr>
                        <a:t>£155.2m</a:t>
                      </a:r>
                    </a:p>
                  </a:txBody>
                  <a:tcPr marL="73152" marR="73152" marT="36576" marB="36576" anchor="ctr">
                    <a:solidFill>
                      <a:srgbClr val="FAFAF8"/>
                    </a:solidFill>
                  </a:tcPr>
                </a:tc>
                <a:tc>
                  <a:txBody>
                    <a:bodyPr wrap="square"/>
                    <a:lstStyle/>
                    <a:p>
                      <a:pPr algn="r"/>
                      <a:r>
                        <a:rPr sz="1100" b="0">
                          <a:solidFill>
                            <a:srgbClr val="1B1B1B"/>
                          </a:solidFill>
                          <a:latin typeface="Calibri"/>
                        </a:rPr>
                        <a:t>10.10%</a:t>
                      </a:r>
                    </a:p>
                  </a:txBody>
                  <a:tcPr marL="73152" marR="73152" marT="36576" marB="36576" anchor="ctr">
                    <a:solidFill>
                      <a:srgbClr val="FAFAF8"/>
                    </a:solidFill>
                  </a:tcPr>
                </a:tc>
                <a:tc>
                  <a:txBody>
                    <a:bodyPr wrap="square"/>
                    <a:lstStyle/>
                    <a:p>
                      <a:pPr algn="r"/>
                      <a:r>
                        <a:rPr sz="1100" b="0">
                          <a:solidFill>
                            <a:srgbClr val="1B1B1B"/>
                          </a:solidFill>
                          <a:latin typeface="Calibri"/>
                        </a:rPr>
                        <a:t>10.00%</a:t>
                      </a:r>
                    </a:p>
                  </a:txBody>
                  <a:tcPr marL="73152" marR="73152" marT="36576" marB="36576" anchor="ctr">
                    <a:solidFill>
                      <a:srgbClr val="FAFAF8"/>
                    </a:solidFill>
                  </a:tcPr>
                </a:tc>
                <a:tc>
                  <a:txBody>
                    <a:bodyPr wrap="square"/>
                    <a:lstStyle/>
                    <a:p>
                      <a:pPr algn="r"/>
                      <a:r>
                        <a:rPr sz="1100" b="0">
                          <a:solidFill>
                            <a:srgbClr val="1B1B1B"/>
                          </a:solidFill>
                          <a:latin typeface="Calibri"/>
                        </a:rPr>
                        <a:t>+0.10%</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Diversified Growth</a:t>
                      </a:r>
                    </a:p>
                  </a:txBody>
                  <a:tcPr marL="73152" marR="73152" marT="36576" marB="36576" anchor="ctr">
                    <a:solidFill>
                      <a:srgbClr val="FFFFFF"/>
                    </a:solidFill>
                  </a:tcPr>
                </a:tc>
                <a:tc>
                  <a:txBody>
                    <a:bodyPr wrap="square"/>
                    <a:lstStyle/>
                    <a:p>
                      <a:pPr algn="r"/>
                      <a:r>
                        <a:rPr sz="1100" b="0">
                          <a:solidFill>
                            <a:srgbClr val="1B1B1B"/>
                          </a:solidFill>
                          <a:latin typeface="Calibri"/>
                        </a:rPr>
                        <a:t>£156.3m</a:t>
                      </a:r>
                    </a:p>
                  </a:txBody>
                  <a:tcPr marL="73152" marR="73152" marT="36576" marB="36576" anchor="ctr">
                    <a:solidFill>
                      <a:srgbClr val="FFFFFF"/>
                    </a:solidFill>
                  </a:tcPr>
                </a:tc>
                <a:tc>
                  <a:txBody>
                    <a:bodyPr wrap="square"/>
                    <a:lstStyle/>
                    <a:p>
                      <a:pPr algn="r"/>
                      <a:r>
                        <a:rPr sz="1100" b="0">
                          <a:solidFill>
                            <a:srgbClr val="1B1B1B"/>
                          </a:solidFill>
                          <a:latin typeface="Calibri"/>
                        </a:rPr>
                        <a:t>10.17%</a:t>
                      </a:r>
                    </a:p>
                  </a:txBody>
                  <a:tcPr marL="73152" marR="73152" marT="36576" marB="36576" anchor="ctr">
                    <a:solidFill>
                      <a:srgbClr val="FFFFFF"/>
                    </a:solidFill>
                  </a:tcPr>
                </a:tc>
                <a:tc>
                  <a:txBody>
                    <a:bodyPr wrap="square"/>
                    <a:lstStyle/>
                    <a:p>
                      <a:pPr algn="r"/>
                      <a:r>
                        <a:rPr sz="1100" b="0">
                          <a:solidFill>
                            <a:srgbClr val="1B1B1B"/>
                          </a:solidFill>
                          <a:latin typeface="Calibri"/>
                        </a:rPr>
                        <a:t>10.00%</a:t>
                      </a:r>
                    </a:p>
                  </a:txBody>
                  <a:tcPr marL="73152" marR="73152" marT="36576" marB="36576" anchor="ctr">
                    <a:solidFill>
                      <a:srgbClr val="FFFFFF"/>
                    </a:solidFill>
                  </a:tcPr>
                </a:tc>
                <a:tc>
                  <a:txBody>
                    <a:bodyPr wrap="square"/>
                    <a:lstStyle/>
                    <a:p>
                      <a:pPr algn="r"/>
                      <a:r>
                        <a:rPr sz="1100" b="0">
                          <a:solidFill>
                            <a:srgbClr val="1B1B1B"/>
                          </a:solidFill>
                          <a:latin typeface="Calibri"/>
                        </a:rPr>
                        <a:t>+0.17%</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UK Property</a:t>
                      </a:r>
                    </a:p>
                  </a:txBody>
                  <a:tcPr marL="73152" marR="73152" marT="36576" marB="36576" anchor="ctr">
                    <a:solidFill>
                      <a:srgbClr val="FAFAF8"/>
                    </a:solidFill>
                  </a:tcPr>
                </a:tc>
                <a:tc>
                  <a:txBody>
                    <a:bodyPr wrap="square"/>
                    <a:lstStyle/>
                    <a:p>
                      <a:pPr algn="r"/>
                      <a:r>
                        <a:rPr sz="1100" b="0">
                          <a:solidFill>
                            <a:srgbClr val="1B1B1B"/>
                          </a:solidFill>
                          <a:latin typeface="Calibri"/>
                        </a:rPr>
                        <a:t>£156.6m</a:t>
                      </a:r>
                    </a:p>
                  </a:txBody>
                  <a:tcPr marL="73152" marR="73152" marT="36576" marB="36576" anchor="ctr">
                    <a:solidFill>
                      <a:srgbClr val="FAFAF8"/>
                    </a:solidFill>
                  </a:tcPr>
                </a:tc>
                <a:tc>
                  <a:txBody>
                    <a:bodyPr wrap="square"/>
                    <a:lstStyle/>
                    <a:p>
                      <a:pPr algn="r"/>
                      <a:r>
                        <a:rPr sz="1100" b="0">
                          <a:solidFill>
                            <a:srgbClr val="1B1B1B"/>
                          </a:solidFill>
                          <a:latin typeface="Calibri"/>
                        </a:rPr>
                        <a:t>10.19%</a:t>
                      </a:r>
                    </a:p>
                  </a:txBody>
                  <a:tcPr marL="73152" marR="73152" marT="36576" marB="36576" anchor="ctr">
                    <a:solidFill>
                      <a:srgbClr val="FAFAF8"/>
                    </a:solidFill>
                  </a:tcPr>
                </a:tc>
                <a:tc>
                  <a:txBody>
                    <a:bodyPr wrap="square"/>
                    <a:lstStyle/>
                    <a:p>
                      <a:pPr algn="r"/>
                      <a:r>
                        <a:rPr sz="1100" b="0">
                          <a:solidFill>
                            <a:srgbClr val="1B1B1B"/>
                          </a:solidFill>
                          <a:latin typeface="Calibri"/>
                        </a:rPr>
                        <a:t>10.00%</a:t>
                      </a:r>
                    </a:p>
                  </a:txBody>
                  <a:tcPr marL="73152" marR="73152" marT="36576" marB="36576" anchor="ctr">
                    <a:solidFill>
                      <a:srgbClr val="FAFAF8"/>
                    </a:solidFill>
                  </a:tcPr>
                </a:tc>
                <a:tc>
                  <a:txBody>
                    <a:bodyPr wrap="square"/>
                    <a:lstStyle/>
                    <a:p>
                      <a:pPr algn="r"/>
                      <a:r>
                        <a:rPr sz="1100" b="0">
                          <a:solidFill>
                            <a:srgbClr val="1B1B1B"/>
                          </a:solidFill>
                          <a:latin typeface="Calibri"/>
                        </a:rPr>
                        <a:t>+0.19%</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Buy &amp; Maintain Credit</a:t>
                      </a:r>
                    </a:p>
                  </a:txBody>
                  <a:tcPr marL="73152" marR="73152" marT="36576" marB="36576" anchor="ctr">
                    <a:solidFill>
                      <a:srgbClr val="FFFFFF"/>
                    </a:solidFill>
                  </a:tcPr>
                </a:tc>
                <a:tc>
                  <a:txBody>
                    <a:bodyPr wrap="square"/>
                    <a:lstStyle/>
                    <a:p>
                      <a:pPr algn="r"/>
                      <a:r>
                        <a:rPr sz="1100" b="0">
                          <a:solidFill>
                            <a:srgbClr val="1B1B1B"/>
                          </a:solidFill>
                          <a:latin typeface="Calibri"/>
                        </a:rPr>
                        <a:t>£216.7m</a:t>
                      </a:r>
                    </a:p>
                  </a:txBody>
                  <a:tcPr marL="73152" marR="73152" marT="36576" marB="36576" anchor="ctr">
                    <a:solidFill>
                      <a:srgbClr val="FFFFFF"/>
                    </a:solidFill>
                  </a:tcPr>
                </a:tc>
                <a:tc>
                  <a:txBody>
                    <a:bodyPr wrap="square"/>
                    <a:lstStyle/>
                    <a:p>
                      <a:pPr algn="r"/>
                      <a:r>
                        <a:rPr sz="1100" b="0">
                          <a:solidFill>
                            <a:srgbClr val="1B1B1B"/>
                          </a:solidFill>
                          <a:latin typeface="Calibri"/>
                        </a:rPr>
                        <a:t>14.10%</a:t>
                      </a:r>
                    </a:p>
                  </a:txBody>
                  <a:tcPr marL="73152" marR="73152" marT="36576" marB="36576" anchor="ctr">
                    <a:solidFill>
                      <a:srgbClr val="FFFFFF"/>
                    </a:solidFill>
                  </a:tcPr>
                </a:tc>
                <a:tc>
                  <a:txBody>
                    <a:bodyPr wrap="square"/>
                    <a:lstStyle/>
                    <a:p>
                      <a:pPr algn="r"/>
                      <a:r>
                        <a:rPr sz="1100" b="0">
                          <a:solidFill>
                            <a:srgbClr val="1B1B1B"/>
                          </a:solidFill>
                          <a:latin typeface="Calibri"/>
                        </a:rPr>
                        <a:t>15.00%</a:t>
                      </a:r>
                    </a:p>
                  </a:txBody>
                  <a:tcPr marL="73152" marR="73152" marT="36576" marB="36576" anchor="ctr">
                    <a:solidFill>
                      <a:srgbClr val="FFFFFF"/>
                    </a:solidFill>
                  </a:tcPr>
                </a:tc>
                <a:tc>
                  <a:txBody>
                    <a:bodyPr wrap="square"/>
                    <a:lstStyle/>
                    <a:p>
                      <a:pPr algn="r"/>
                      <a:r>
                        <a:rPr sz="1100" b="0">
                          <a:solidFill>
                            <a:srgbClr val="1B1B1B"/>
                          </a:solidFill>
                          <a:latin typeface="Calibri"/>
                        </a:rPr>
                        <a:t>-0.90%</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Liability Driven Investment</a:t>
                      </a:r>
                    </a:p>
                  </a:txBody>
                  <a:tcPr marL="73152" marR="73152" marT="36576" marB="36576" anchor="ctr">
                    <a:solidFill>
                      <a:srgbClr val="FAFAF8"/>
                    </a:solidFill>
                  </a:tcPr>
                </a:tc>
                <a:tc>
                  <a:txBody>
                    <a:bodyPr wrap="square"/>
                    <a:lstStyle/>
                    <a:p>
                      <a:pPr algn="r"/>
                      <a:r>
                        <a:rPr sz="1100" b="0">
                          <a:solidFill>
                            <a:srgbClr val="1B1B1B"/>
                          </a:solidFill>
                          <a:latin typeface="Calibri"/>
                        </a:rPr>
                        <a:t>£422.9m</a:t>
                      </a:r>
                    </a:p>
                  </a:txBody>
                  <a:tcPr marL="73152" marR="73152" marT="36576" marB="36576" anchor="ctr">
                    <a:solidFill>
                      <a:srgbClr val="FAFAF8"/>
                    </a:solidFill>
                  </a:tcPr>
                </a:tc>
                <a:tc>
                  <a:txBody>
                    <a:bodyPr wrap="square"/>
                    <a:lstStyle/>
                    <a:p>
                      <a:pPr algn="r"/>
                      <a:r>
                        <a:rPr sz="1100" b="0">
                          <a:solidFill>
                            <a:srgbClr val="1B1B1B"/>
                          </a:solidFill>
                          <a:latin typeface="Calibri"/>
                        </a:rPr>
                        <a:t>27.52%</a:t>
                      </a:r>
                    </a:p>
                  </a:txBody>
                  <a:tcPr marL="73152" marR="73152" marT="36576" marB="36576" anchor="ctr">
                    <a:solidFill>
                      <a:srgbClr val="FAFAF8"/>
                    </a:solidFill>
                  </a:tcPr>
                </a:tc>
                <a:tc>
                  <a:txBody>
                    <a:bodyPr wrap="square"/>
                    <a:lstStyle/>
                    <a:p>
                      <a:pPr algn="r"/>
                      <a:r>
                        <a:rPr sz="1100" b="0">
                          <a:solidFill>
                            <a:srgbClr val="1B1B1B"/>
                          </a:solidFill>
                          <a:latin typeface="Calibri"/>
                        </a:rPr>
                        <a:t>30.00%</a:t>
                      </a:r>
                    </a:p>
                  </a:txBody>
                  <a:tcPr marL="73152" marR="73152" marT="36576" marB="36576" anchor="ctr">
                    <a:solidFill>
                      <a:srgbClr val="FAFAF8"/>
                    </a:solidFill>
                  </a:tcPr>
                </a:tc>
                <a:tc>
                  <a:txBody>
                    <a:bodyPr wrap="square"/>
                    <a:lstStyle/>
                    <a:p>
                      <a:pPr algn="r"/>
                      <a:r>
                        <a:rPr sz="1100" b="0">
                          <a:solidFill>
                            <a:srgbClr val="1B1B1B"/>
                          </a:solidFill>
                          <a:latin typeface="Calibri"/>
                        </a:rPr>
                        <a:t>-2.48%</a:t>
                      </a:r>
                    </a:p>
                  </a:txBody>
                  <a:tcPr marL="73152" marR="73152" marT="36576" marB="36576" anchor="ctr">
                    <a:solidFill>
                      <a:srgbClr val="FAFAF8"/>
                    </a:solidFill>
                  </a:tcPr>
                </a:tc>
              </a:tr>
              <a:tr h="384048">
                <a:tc>
                  <a:txBody>
                    <a:bodyPr wrap="square"/>
                    <a:lstStyle/>
                    <a:p>
                      <a:pPr algn="l"/>
                      <a:r>
                        <a:rPr sz="1100" b="1">
                          <a:solidFill>
                            <a:srgbClr val="1B1B1B"/>
                          </a:solidFill>
                          <a:latin typeface="Calibri"/>
                        </a:rPr>
                        <a:t>Total fund</a:t>
                      </a:r>
                    </a:p>
                  </a:txBody>
                  <a:tcPr marL="73152" marR="73152" marT="36576" marB="36576" anchor="ctr">
                    <a:solidFill>
                      <a:srgbClr val="F3F2EE"/>
                    </a:solidFill>
                  </a:tcPr>
                </a:tc>
                <a:tc>
                  <a:txBody>
                    <a:bodyPr wrap="square"/>
                    <a:lstStyle/>
                    <a:p>
                      <a:pPr algn="r"/>
                      <a:r>
                        <a:rPr sz="1100" b="1">
                          <a:solidFill>
                            <a:srgbClr val="1B1B1B"/>
                          </a:solidFill>
                          <a:latin typeface="Calibri"/>
                        </a:rPr>
                        <a:t>£1.54bn</a:t>
                      </a:r>
                    </a:p>
                  </a:txBody>
                  <a:tcPr marL="73152" marR="73152" marT="36576" marB="36576" anchor="ctr">
                    <a:solidFill>
                      <a:srgbClr val="F3F2EE"/>
                    </a:solidFill>
                  </a:tcPr>
                </a:tc>
                <a:tc>
                  <a:txBody>
                    <a:bodyPr wrap="square"/>
                    <a:lstStyle/>
                    <a:p>
                      <a:pPr algn="r"/>
                      <a:r>
                        <a:rPr sz="1100" b="1">
                          <a:solidFill>
                            <a:srgbClr val="1B1B1B"/>
                          </a:solidFill>
                          <a:latin typeface="Calibri"/>
                        </a:rPr>
                        <a:t>100.00%</a:t>
                      </a:r>
                    </a:p>
                  </a:txBody>
                  <a:tcPr marL="73152" marR="73152" marT="36576" marB="36576" anchor="ctr">
                    <a:solidFill>
                      <a:srgbClr val="F3F2EE"/>
                    </a:solidFill>
                  </a:tcPr>
                </a:tc>
                <a:tc>
                  <a:txBody>
                    <a:bodyPr wrap="square"/>
                    <a:lstStyle/>
                    <a:p>
                      <a:pPr algn="r"/>
                      <a:r>
                        <a:rPr sz="1100" b="1">
                          <a:solidFill>
                            <a:srgbClr val="1B1B1B"/>
                          </a:solidFill>
                          <a:latin typeface="Calibri"/>
                        </a:rPr>
                        <a:t>100.00%</a:t>
                      </a:r>
                    </a:p>
                  </a:txBody>
                  <a:tcPr marL="73152" marR="73152" marT="36576" marB="36576" anchor="ctr">
                    <a:solidFill>
                      <a:srgbClr val="F3F2EE"/>
                    </a:solidFill>
                  </a:tcPr>
                </a:tc>
                <a:tc>
                  <a:txBody>
                    <a:bodyPr wrap="square"/>
                    <a:lstStyle/>
                    <a:p>
                      <a:pPr algn="r"/>
                      <a:r>
                        <a:rPr sz="1100" b="0">
                          <a:solidFill>
                            <a:srgbClr val="1B1B1B"/>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Risk (3 years, annualised)</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11</a:t>
            </a:r>
          </a:p>
        </p:txBody>
      </p:sp>
      <p:graphicFrame>
        <p:nvGraphicFramePr>
          <p:cNvPr id="6" name="Table 5"/>
          <p:cNvGraphicFramePr>
            <a:graphicFrameLocks noGrp="1"/>
          </p:cNvGraphicFramePr>
          <p:nvPr/>
        </p:nvGraphicFramePr>
        <p:xfrm>
          <a:off x="548640" y="1280160"/>
          <a:ext cx="11094412" cy="3072384"/>
        </p:xfrm>
        <a:graphic>
          <a:graphicData uri="http://schemas.openxmlformats.org/drawingml/2006/table">
            <a:tbl>
              <a:tblPr firstRow="1" bandRow="1">
                <a:tableStyleId>{5C22544A-7EE6-4342-B048-85BDC9FD1C3A}</a:tableStyleId>
              </a:tblPr>
              <a:tblGrid>
                <a:gridCol w="2884547"/>
                <a:gridCol w="1641973"/>
                <a:gridCol w="1641973"/>
                <a:gridCol w="1641973"/>
                <a:gridCol w="1641973"/>
                <a:gridCol w="1641973"/>
              </a:tblGrid>
              <a:tr h="384048">
                <a:tc>
                  <a:txBody>
                    <a:bodyPr wrap="square"/>
                    <a:lstStyle/>
                    <a:p>
                      <a:pPr algn="l"/>
                      <a:r>
                        <a:rPr sz="1100" b="1">
                          <a:solidFill>
                            <a:srgbClr val="FFFFFF"/>
                          </a:solidFill>
                          <a:latin typeface="Calibri"/>
                        </a:rPr>
                        <a:t>Mandate</a:t>
                      </a:r>
                    </a:p>
                  </a:txBody>
                  <a:tcPr marL="73152" marR="73152" marT="36576" marB="36576" anchor="ctr">
                    <a:solidFill>
                      <a:srgbClr val="17324D"/>
                    </a:solidFill>
                  </a:tcPr>
                </a:tc>
                <a:tc>
                  <a:txBody>
                    <a:bodyPr wrap="square"/>
                    <a:lstStyle/>
                    <a:p>
                      <a:pPr algn="r"/>
                      <a:r>
                        <a:rPr sz="1100" b="1">
                          <a:solidFill>
                            <a:srgbClr val="FFFFFF"/>
                          </a:solidFill>
                          <a:latin typeface="Calibri"/>
                        </a:rPr>
                        <a:t>Volatility</a:t>
                      </a:r>
                    </a:p>
                  </a:txBody>
                  <a:tcPr marL="73152" marR="73152" marT="36576" marB="36576" anchor="ctr">
                    <a:solidFill>
                      <a:srgbClr val="17324D"/>
                    </a:solidFill>
                  </a:tcPr>
                </a:tc>
                <a:tc>
                  <a:txBody>
                    <a:bodyPr wrap="square"/>
                    <a:lstStyle/>
                    <a:p>
                      <a:pPr algn="r"/>
                      <a:r>
                        <a:rPr sz="1100" b="1">
                          <a:solidFill>
                            <a:srgbClr val="FFFFFF"/>
                          </a:solidFill>
                          <a:latin typeface="Calibri"/>
                        </a:rPr>
                        <a:t>Tracking error</a:t>
                      </a:r>
                    </a:p>
                  </a:txBody>
                  <a:tcPr marL="73152" marR="73152" marT="36576" marB="36576" anchor="ctr">
                    <a:solidFill>
                      <a:srgbClr val="17324D"/>
                    </a:solidFill>
                  </a:tcPr>
                </a:tc>
                <a:tc>
                  <a:txBody>
                    <a:bodyPr wrap="square"/>
                    <a:lstStyle/>
                    <a:p>
                      <a:pPr algn="r"/>
                      <a:r>
                        <a:rPr sz="1100" b="1">
                          <a:solidFill>
                            <a:srgbClr val="FFFFFF"/>
                          </a:solidFill>
                          <a:latin typeface="Calibri"/>
                        </a:rPr>
                        <a:t>Information ratio</a:t>
                      </a:r>
                    </a:p>
                  </a:txBody>
                  <a:tcPr marL="73152" marR="73152" marT="36576" marB="36576" anchor="ctr">
                    <a:solidFill>
                      <a:srgbClr val="17324D"/>
                    </a:solidFill>
                  </a:tcPr>
                </a:tc>
                <a:tc>
                  <a:txBody>
                    <a:bodyPr wrap="square"/>
                    <a:lstStyle/>
                    <a:p>
                      <a:pPr algn="r"/>
                      <a:r>
                        <a:rPr sz="1100" b="1">
                          <a:solidFill>
                            <a:srgbClr val="FFFFFF"/>
                          </a:solidFill>
                          <a:latin typeface="Calibri"/>
                        </a:rPr>
                        <a:t>Sharpe ratio</a:t>
                      </a:r>
                    </a:p>
                  </a:txBody>
                  <a:tcPr marL="73152" marR="73152" marT="36576" marB="36576" anchor="ctr">
                    <a:solidFill>
                      <a:srgbClr val="17324D"/>
                    </a:solidFill>
                  </a:tcPr>
                </a:tc>
                <a:tc>
                  <a:txBody>
                    <a:bodyPr wrap="square"/>
                    <a:lstStyle/>
                    <a:p>
                      <a:pPr algn="r"/>
                      <a:r>
                        <a:rPr sz="1100" b="1">
                          <a:solidFill>
                            <a:srgbClr val="FFFFFF"/>
                          </a:solidFill>
                          <a:latin typeface="Calibri"/>
                        </a:rPr>
                        <a:t>Max drawdown</a:t>
                      </a:r>
                    </a:p>
                  </a:txBody>
                  <a:tcPr marL="73152" marR="73152" marT="36576" marB="36576" anchor="ctr">
                    <a:solidFill>
                      <a:srgbClr val="17324D"/>
                    </a:solidFill>
                  </a:tcPr>
                </a:tc>
              </a:tr>
              <a:tr h="384048">
                <a:tc>
                  <a:txBody>
                    <a:bodyPr wrap="square"/>
                    <a:lstStyle/>
                    <a:p>
                      <a:pPr algn="l"/>
                      <a:r>
                        <a:rPr sz="1100" b="0">
                          <a:solidFill>
                            <a:srgbClr val="1B1B1B"/>
                          </a:solidFill>
                          <a:latin typeface="Calibri"/>
                        </a:rPr>
                        <a:t>Global Equity</a:t>
                      </a:r>
                    </a:p>
                  </a:txBody>
                  <a:tcPr marL="73152" marR="73152" marT="36576" marB="36576" anchor="ctr">
                    <a:solidFill>
                      <a:srgbClr val="FFFFFF"/>
                    </a:solidFill>
                  </a:tcPr>
                </a:tc>
                <a:tc>
                  <a:txBody>
                    <a:bodyPr wrap="square"/>
                    <a:lstStyle/>
                    <a:p>
                      <a:pPr algn="r"/>
                      <a:r>
                        <a:rPr sz="1100" b="0">
                          <a:solidFill>
                            <a:srgbClr val="1B1B1B"/>
                          </a:solidFill>
                          <a:latin typeface="Calibri"/>
                        </a:rPr>
                        <a:t>14.53%</a:t>
                      </a:r>
                    </a:p>
                  </a:txBody>
                  <a:tcPr marL="73152" marR="73152" marT="36576" marB="36576" anchor="ctr">
                    <a:solidFill>
                      <a:srgbClr val="FFFFFF"/>
                    </a:solidFill>
                  </a:tcPr>
                </a:tc>
                <a:tc>
                  <a:txBody>
                    <a:bodyPr wrap="square"/>
                    <a:lstStyle/>
                    <a:p>
                      <a:pPr algn="r"/>
                      <a:r>
                        <a:rPr sz="1100" b="0">
                          <a:solidFill>
                            <a:srgbClr val="1B1B1B"/>
                          </a:solidFill>
                          <a:latin typeface="Calibri"/>
                        </a:rPr>
                        <a:t>3.80%</a:t>
                      </a:r>
                    </a:p>
                  </a:txBody>
                  <a:tcPr marL="73152" marR="73152" marT="36576" marB="36576" anchor="ctr">
                    <a:solidFill>
                      <a:srgbClr val="FFFFFF"/>
                    </a:solidFill>
                  </a:tcPr>
                </a:tc>
                <a:tc>
                  <a:txBody>
                    <a:bodyPr wrap="square"/>
                    <a:lstStyle/>
                    <a:p>
                      <a:pPr algn="r"/>
                      <a:r>
                        <a:rPr sz="1100" b="0">
                          <a:solidFill>
                            <a:srgbClr val="1B1B1B"/>
                          </a:solidFill>
                          <a:latin typeface="Calibri"/>
                        </a:rPr>
                        <a:t>0.05</a:t>
                      </a:r>
                    </a:p>
                  </a:txBody>
                  <a:tcPr marL="73152" marR="73152" marT="36576" marB="36576" anchor="ctr">
                    <a:solidFill>
                      <a:srgbClr val="FFFFFF"/>
                    </a:solidFill>
                  </a:tcPr>
                </a:tc>
                <a:tc>
                  <a:txBody>
                    <a:bodyPr wrap="square"/>
                    <a:lstStyle/>
                    <a:p>
                      <a:pPr algn="r"/>
                      <a:r>
                        <a:rPr sz="1100" b="0">
                          <a:solidFill>
                            <a:srgbClr val="1B1B1B"/>
                          </a:solidFill>
                          <a:latin typeface="Calibri"/>
                        </a:rPr>
                        <a:t>1.07</a:t>
                      </a:r>
                    </a:p>
                  </a:txBody>
                  <a:tcPr marL="73152" marR="73152" marT="36576" marB="36576" anchor="ctr">
                    <a:solidFill>
                      <a:srgbClr val="FFFFFF"/>
                    </a:solidFill>
                  </a:tcPr>
                </a:tc>
                <a:tc>
                  <a:txBody>
                    <a:bodyPr wrap="square"/>
                    <a:lstStyle/>
                    <a:p>
                      <a:pPr algn="r"/>
                      <a:r>
                        <a:rPr sz="1100" b="0">
                          <a:solidFill>
                            <a:srgbClr val="1B1B1B"/>
                          </a:solidFill>
                          <a:latin typeface="Calibri"/>
                        </a:rPr>
                        <a:t>-9.70%</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Emerging Markets Equity</a:t>
                      </a:r>
                    </a:p>
                  </a:txBody>
                  <a:tcPr marL="73152" marR="73152" marT="36576" marB="36576" anchor="ctr">
                    <a:solidFill>
                      <a:srgbClr val="FAFAF8"/>
                    </a:solidFill>
                  </a:tcPr>
                </a:tc>
                <a:tc>
                  <a:txBody>
                    <a:bodyPr wrap="square"/>
                    <a:lstStyle/>
                    <a:p>
                      <a:pPr algn="r"/>
                      <a:r>
                        <a:rPr sz="1100" b="0">
                          <a:solidFill>
                            <a:srgbClr val="1B1B1B"/>
                          </a:solidFill>
                          <a:latin typeface="Calibri"/>
                        </a:rPr>
                        <a:t>17.89%</a:t>
                      </a:r>
                    </a:p>
                  </a:txBody>
                  <a:tcPr marL="73152" marR="73152" marT="36576" marB="36576" anchor="ctr">
                    <a:solidFill>
                      <a:srgbClr val="FAFAF8"/>
                    </a:solidFill>
                  </a:tcPr>
                </a:tc>
                <a:tc>
                  <a:txBody>
                    <a:bodyPr wrap="square"/>
                    <a:lstStyle/>
                    <a:p>
                      <a:pPr algn="r"/>
                      <a:r>
                        <a:rPr sz="1100" b="0">
                          <a:solidFill>
                            <a:srgbClr val="1B1B1B"/>
                          </a:solidFill>
                          <a:latin typeface="Calibri"/>
                        </a:rPr>
                        <a:t>4.22%</a:t>
                      </a:r>
                    </a:p>
                  </a:txBody>
                  <a:tcPr marL="73152" marR="73152" marT="36576" marB="36576" anchor="ctr">
                    <a:solidFill>
                      <a:srgbClr val="FAFAF8"/>
                    </a:solidFill>
                  </a:tcPr>
                </a:tc>
                <a:tc>
                  <a:txBody>
                    <a:bodyPr wrap="square"/>
                    <a:lstStyle/>
                    <a:p>
                      <a:pPr algn="r"/>
                      <a:r>
                        <a:rPr sz="1100" b="0">
                          <a:solidFill>
                            <a:srgbClr val="1B1B1B"/>
                          </a:solidFill>
                          <a:latin typeface="Calibri"/>
                        </a:rPr>
                        <a:t>-0.90</a:t>
                      </a:r>
                    </a:p>
                  </a:txBody>
                  <a:tcPr marL="73152" marR="73152" marT="36576" marB="36576" anchor="ctr">
                    <a:solidFill>
                      <a:srgbClr val="FAFAF8"/>
                    </a:solidFill>
                  </a:tcPr>
                </a:tc>
                <a:tc>
                  <a:txBody>
                    <a:bodyPr wrap="square"/>
                    <a:lstStyle/>
                    <a:p>
                      <a:pPr algn="r"/>
                      <a:r>
                        <a:rPr sz="1100" b="0">
                          <a:solidFill>
                            <a:srgbClr val="1B1B1B"/>
                          </a:solidFill>
                          <a:latin typeface="Calibri"/>
                        </a:rPr>
                        <a:t>0.52</a:t>
                      </a:r>
                    </a:p>
                  </a:txBody>
                  <a:tcPr marL="73152" marR="73152" marT="36576" marB="36576" anchor="ctr">
                    <a:solidFill>
                      <a:srgbClr val="FAFAF8"/>
                    </a:solidFill>
                  </a:tcPr>
                </a:tc>
                <a:tc>
                  <a:txBody>
                    <a:bodyPr wrap="square"/>
                    <a:lstStyle/>
                    <a:p>
                      <a:pPr algn="r"/>
                      <a:r>
                        <a:rPr sz="1100" b="0">
                          <a:solidFill>
                            <a:srgbClr val="1B1B1B"/>
                          </a:solidFill>
                          <a:latin typeface="Calibri"/>
                        </a:rPr>
                        <a:t>-8.86%</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Diversified Growth</a:t>
                      </a:r>
                    </a:p>
                  </a:txBody>
                  <a:tcPr marL="73152" marR="73152" marT="36576" marB="36576" anchor="ctr">
                    <a:solidFill>
                      <a:srgbClr val="FFFFFF"/>
                    </a:solidFill>
                  </a:tcPr>
                </a:tc>
                <a:tc>
                  <a:txBody>
                    <a:bodyPr wrap="square"/>
                    <a:lstStyle/>
                    <a:p>
                      <a:pPr algn="r"/>
                      <a:r>
                        <a:rPr sz="1100" b="0">
                          <a:solidFill>
                            <a:srgbClr val="1B1B1B"/>
                          </a:solidFill>
                          <a:latin typeface="Calibri"/>
                        </a:rPr>
                        <a:t>7.91%</a:t>
                      </a:r>
                    </a:p>
                  </a:txBody>
                  <a:tcPr marL="73152" marR="73152" marT="36576" marB="36576" anchor="ctr">
                    <a:solidFill>
                      <a:srgbClr val="FFFFFF"/>
                    </a:solidFill>
                  </a:tcPr>
                </a:tc>
                <a:tc>
                  <a:txBody>
                    <a:bodyPr wrap="square"/>
                    <a:lstStyle/>
                    <a:p>
                      <a:pPr algn="r"/>
                      <a:r>
                        <a:rPr sz="1100" b="0">
                          <a:solidFill>
                            <a:srgbClr val="1B1B1B"/>
                          </a:solidFill>
                          <a:latin typeface="Calibri"/>
                        </a:rPr>
                        <a:t>2.82%</a:t>
                      </a:r>
                    </a:p>
                  </a:txBody>
                  <a:tcPr marL="73152" marR="73152" marT="36576" marB="36576" anchor="ctr">
                    <a:solidFill>
                      <a:srgbClr val="FFFFFF"/>
                    </a:solidFill>
                  </a:tcPr>
                </a:tc>
                <a:tc>
                  <a:txBody>
                    <a:bodyPr wrap="square"/>
                    <a:lstStyle/>
                    <a:p>
                      <a:pPr algn="r"/>
                      <a:r>
                        <a:rPr sz="1100" b="0">
                          <a:solidFill>
                            <a:srgbClr val="1B1B1B"/>
                          </a:solidFill>
                          <a:latin typeface="Calibri"/>
                        </a:rPr>
                        <a:t>0.27</a:t>
                      </a:r>
                    </a:p>
                  </a:txBody>
                  <a:tcPr marL="73152" marR="73152" marT="36576" marB="36576" anchor="ctr">
                    <a:solidFill>
                      <a:srgbClr val="FFFFFF"/>
                    </a:solidFill>
                  </a:tcPr>
                </a:tc>
                <a:tc>
                  <a:txBody>
                    <a:bodyPr wrap="square"/>
                    <a:lstStyle/>
                    <a:p>
                      <a:pPr algn="r"/>
                      <a:r>
                        <a:rPr sz="1100" b="0">
                          <a:solidFill>
                            <a:srgbClr val="1B1B1B"/>
                          </a:solidFill>
                          <a:latin typeface="Calibri"/>
                        </a:rPr>
                        <a:t>1.13</a:t>
                      </a:r>
                    </a:p>
                  </a:txBody>
                  <a:tcPr marL="73152" marR="73152" marT="36576" marB="36576" anchor="ctr">
                    <a:solidFill>
                      <a:srgbClr val="FFFFFF"/>
                    </a:solidFill>
                  </a:tcPr>
                </a:tc>
                <a:tc>
                  <a:txBody>
                    <a:bodyPr wrap="square"/>
                    <a:lstStyle/>
                    <a:p>
                      <a:pPr algn="r"/>
                      <a:r>
                        <a:rPr sz="1100" b="0">
                          <a:solidFill>
                            <a:srgbClr val="1B1B1B"/>
                          </a:solidFill>
                          <a:latin typeface="Calibri"/>
                        </a:rPr>
                        <a:t>-4.05%</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UK Property</a:t>
                      </a:r>
                    </a:p>
                  </a:txBody>
                  <a:tcPr marL="73152" marR="73152" marT="36576" marB="36576" anchor="ctr">
                    <a:solidFill>
                      <a:srgbClr val="FAFAF8"/>
                    </a:solidFill>
                  </a:tcPr>
                </a:tc>
                <a:tc>
                  <a:txBody>
                    <a:bodyPr wrap="square"/>
                    <a:lstStyle/>
                    <a:p>
                      <a:pPr algn="r"/>
                      <a:r>
                        <a:rPr sz="1100" b="0">
                          <a:solidFill>
                            <a:srgbClr val="1B1B1B"/>
                          </a:solidFill>
                          <a:latin typeface="Calibri"/>
                        </a:rPr>
                        <a:t>7.85%</a:t>
                      </a:r>
                    </a:p>
                  </a:txBody>
                  <a:tcPr marL="73152" marR="73152" marT="36576" marB="36576" anchor="ctr">
                    <a:solidFill>
                      <a:srgbClr val="FAFAF8"/>
                    </a:solidFill>
                  </a:tcPr>
                </a:tc>
                <a:tc>
                  <a:txBody>
                    <a:bodyPr wrap="square"/>
                    <a:lstStyle/>
                    <a:p>
                      <a:pPr algn="r"/>
                      <a:r>
                        <a:rPr sz="1100" b="0">
                          <a:solidFill>
                            <a:srgbClr val="1B1B1B"/>
                          </a:solidFill>
                          <a:latin typeface="Calibri"/>
                        </a:rPr>
                        <a:t>1.79%</a:t>
                      </a:r>
                    </a:p>
                  </a:txBody>
                  <a:tcPr marL="73152" marR="73152" marT="36576" marB="36576" anchor="ctr">
                    <a:solidFill>
                      <a:srgbClr val="FAFAF8"/>
                    </a:solidFill>
                  </a:tcPr>
                </a:tc>
                <a:tc>
                  <a:txBody>
                    <a:bodyPr wrap="square"/>
                    <a:lstStyle/>
                    <a:p>
                      <a:pPr algn="r"/>
                      <a:r>
                        <a:rPr sz="1100" b="0">
                          <a:solidFill>
                            <a:srgbClr val="1B1B1B"/>
                          </a:solidFill>
                          <a:latin typeface="Calibri"/>
                        </a:rPr>
                        <a:t>0.89</a:t>
                      </a:r>
                    </a:p>
                  </a:txBody>
                  <a:tcPr marL="73152" marR="73152" marT="36576" marB="36576" anchor="ctr">
                    <a:solidFill>
                      <a:srgbClr val="FAFAF8"/>
                    </a:solidFill>
                  </a:tcPr>
                </a:tc>
                <a:tc>
                  <a:txBody>
                    <a:bodyPr wrap="square"/>
                    <a:lstStyle/>
                    <a:p>
                      <a:pPr algn="r"/>
                      <a:r>
                        <a:rPr sz="1100" b="0">
                          <a:solidFill>
                            <a:srgbClr val="1B1B1B"/>
                          </a:solidFill>
                          <a:latin typeface="Calibri"/>
                        </a:rPr>
                        <a:t>1.90</a:t>
                      </a:r>
                    </a:p>
                  </a:txBody>
                  <a:tcPr marL="73152" marR="73152" marT="36576" marB="36576" anchor="ctr">
                    <a:solidFill>
                      <a:srgbClr val="FAFAF8"/>
                    </a:solidFill>
                  </a:tcPr>
                </a:tc>
                <a:tc>
                  <a:txBody>
                    <a:bodyPr wrap="square"/>
                    <a:lstStyle/>
                    <a:p>
                      <a:pPr algn="r"/>
                      <a:r>
                        <a:rPr sz="1100" b="0">
                          <a:solidFill>
                            <a:srgbClr val="1B1B1B"/>
                          </a:solidFill>
                          <a:latin typeface="Calibri"/>
                        </a:rPr>
                        <a:t>-2.35%</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Buy &amp; Maintain Credit</a:t>
                      </a:r>
                    </a:p>
                  </a:txBody>
                  <a:tcPr marL="73152" marR="73152" marT="36576" marB="36576" anchor="ctr">
                    <a:solidFill>
                      <a:srgbClr val="FFFFFF"/>
                    </a:solidFill>
                  </a:tcPr>
                </a:tc>
                <a:tc>
                  <a:txBody>
                    <a:bodyPr wrap="square"/>
                    <a:lstStyle/>
                    <a:p>
                      <a:pPr algn="r"/>
                      <a:r>
                        <a:rPr sz="1100" b="0">
                          <a:solidFill>
                            <a:srgbClr val="1B1B1B"/>
                          </a:solidFill>
                          <a:latin typeface="Calibri"/>
                        </a:rPr>
                        <a:t>6.91%</a:t>
                      </a:r>
                    </a:p>
                  </a:txBody>
                  <a:tcPr marL="73152" marR="73152" marT="36576" marB="36576" anchor="ctr">
                    <a:solidFill>
                      <a:srgbClr val="FFFFFF"/>
                    </a:solidFill>
                  </a:tcPr>
                </a:tc>
                <a:tc>
                  <a:txBody>
                    <a:bodyPr wrap="square"/>
                    <a:lstStyle/>
                    <a:p>
                      <a:pPr algn="r"/>
                      <a:r>
                        <a:rPr sz="1100" b="0">
                          <a:solidFill>
                            <a:srgbClr val="1B1B1B"/>
                          </a:solidFill>
                          <a:latin typeface="Calibri"/>
                        </a:rPr>
                        <a:t>0.82%</a:t>
                      </a:r>
                    </a:p>
                  </a:txBody>
                  <a:tcPr marL="73152" marR="73152" marT="36576" marB="36576" anchor="ctr">
                    <a:solidFill>
                      <a:srgbClr val="FFFFFF"/>
                    </a:solidFill>
                  </a:tcPr>
                </a:tc>
                <a:tc>
                  <a:txBody>
                    <a:bodyPr wrap="square"/>
                    <a:lstStyle/>
                    <a:p>
                      <a:pPr algn="r"/>
                      <a:r>
                        <a:rPr sz="1100" b="0">
                          <a:solidFill>
                            <a:srgbClr val="1B1B1B"/>
                          </a:solidFill>
                          <a:latin typeface="Calibri"/>
                        </a:rPr>
                        <a:t>1.68</a:t>
                      </a:r>
                    </a:p>
                  </a:txBody>
                  <a:tcPr marL="73152" marR="73152" marT="36576" marB="36576" anchor="ctr">
                    <a:solidFill>
                      <a:srgbClr val="FFFFFF"/>
                    </a:solidFill>
                  </a:tcPr>
                </a:tc>
                <a:tc>
                  <a:txBody>
                    <a:bodyPr wrap="square"/>
                    <a:lstStyle/>
                    <a:p>
                      <a:pPr algn="r"/>
                      <a:r>
                        <a:rPr sz="1100" b="0">
                          <a:solidFill>
                            <a:srgbClr val="1B1B1B"/>
                          </a:solidFill>
                          <a:latin typeface="Calibri"/>
                        </a:rPr>
                        <a:t>0.42</a:t>
                      </a:r>
                    </a:p>
                  </a:txBody>
                  <a:tcPr marL="73152" marR="73152" marT="36576" marB="36576" anchor="ctr">
                    <a:solidFill>
                      <a:srgbClr val="FFFFFF"/>
                    </a:solidFill>
                  </a:tcPr>
                </a:tc>
                <a:tc>
                  <a:txBody>
                    <a:bodyPr wrap="square"/>
                    <a:lstStyle/>
                    <a:p>
                      <a:pPr algn="r"/>
                      <a:r>
                        <a:rPr sz="1100" b="0">
                          <a:solidFill>
                            <a:srgbClr val="1B1B1B"/>
                          </a:solidFill>
                          <a:latin typeface="Calibri"/>
                        </a:rPr>
                        <a:t>-5.99%</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Liability Driven Investment</a:t>
                      </a:r>
                    </a:p>
                  </a:txBody>
                  <a:tcPr marL="73152" marR="73152" marT="36576" marB="36576" anchor="ctr">
                    <a:solidFill>
                      <a:srgbClr val="FAFAF8"/>
                    </a:solidFill>
                  </a:tcPr>
                </a:tc>
                <a:tc>
                  <a:txBody>
                    <a:bodyPr wrap="square"/>
                    <a:lstStyle/>
                    <a:p>
                      <a:pPr algn="r"/>
                      <a:r>
                        <a:rPr sz="1100" b="0">
                          <a:solidFill>
                            <a:srgbClr val="1B1B1B"/>
                          </a:solidFill>
                          <a:latin typeface="Calibri"/>
                        </a:rPr>
                        <a:t>15.08%</a:t>
                      </a:r>
                    </a:p>
                  </a:txBody>
                  <a:tcPr marL="73152" marR="73152" marT="36576" marB="36576" anchor="ctr">
                    <a:solidFill>
                      <a:srgbClr val="FAFAF8"/>
                    </a:solidFill>
                  </a:tcPr>
                </a:tc>
                <a:tc>
                  <a:txBody>
                    <a:bodyPr wrap="square"/>
                    <a:lstStyle/>
                    <a:p>
                      <a:pPr algn="r"/>
                      <a:r>
                        <a:rPr sz="1100" b="0">
                          <a:solidFill>
                            <a:srgbClr val="1B1B1B"/>
                          </a:solidFill>
                          <a:latin typeface="Calibri"/>
                        </a:rPr>
                        <a:t>0.38%</a:t>
                      </a:r>
                    </a:p>
                  </a:txBody>
                  <a:tcPr marL="73152" marR="73152" marT="36576" marB="36576" anchor="ctr">
                    <a:solidFill>
                      <a:srgbClr val="FAFAF8"/>
                    </a:solidFill>
                  </a:tcPr>
                </a:tc>
                <a:tc>
                  <a:txBody>
                    <a:bodyPr wrap="square"/>
                    <a:lstStyle/>
                    <a:p>
                      <a:pPr algn="r"/>
                      <a:r>
                        <a:rPr sz="1100" b="0">
                          <a:solidFill>
                            <a:srgbClr val="1B1B1B"/>
                          </a:solidFill>
                          <a:latin typeface="Calibri"/>
                        </a:rPr>
                        <a:t>0.55</a:t>
                      </a:r>
                    </a:p>
                  </a:txBody>
                  <a:tcPr marL="73152" marR="73152" marT="36576" marB="36576" anchor="ctr">
                    <a:solidFill>
                      <a:srgbClr val="FAFAF8"/>
                    </a:solidFill>
                  </a:tcPr>
                </a:tc>
                <a:tc>
                  <a:txBody>
                    <a:bodyPr wrap="square"/>
                    <a:lstStyle/>
                    <a:p>
                      <a:pPr algn="r"/>
                      <a:r>
                        <a:rPr sz="1100" b="0">
                          <a:solidFill>
                            <a:srgbClr val="1B1B1B"/>
                          </a:solidFill>
                          <a:latin typeface="Calibri"/>
                        </a:rPr>
                        <a:t>-0.49</a:t>
                      </a:r>
                    </a:p>
                  </a:txBody>
                  <a:tcPr marL="73152" marR="73152" marT="36576" marB="36576" anchor="ctr">
                    <a:solidFill>
                      <a:srgbClr val="FAFAF8"/>
                    </a:solidFill>
                  </a:tcPr>
                </a:tc>
                <a:tc>
                  <a:txBody>
                    <a:bodyPr wrap="square"/>
                    <a:lstStyle/>
                    <a:p>
                      <a:pPr algn="r"/>
                      <a:r>
                        <a:rPr sz="1100" b="0">
                          <a:solidFill>
                            <a:srgbClr val="1B1B1B"/>
                          </a:solidFill>
                          <a:latin typeface="Calibri"/>
                        </a:rPr>
                        <a:t>-27.21%</a:t>
                      </a:r>
                    </a:p>
                  </a:txBody>
                  <a:tcPr marL="73152" marR="73152" marT="36576" marB="36576" anchor="ctr">
                    <a:solidFill>
                      <a:srgbClr val="FAFAF8"/>
                    </a:solidFill>
                  </a:tcPr>
                </a:tc>
              </a:tr>
              <a:tr h="384048">
                <a:tc>
                  <a:txBody>
                    <a:bodyPr wrap="square"/>
                    <a:lstStyle/>
                    <a:p>
                      <a:pPr algn="l"/>
                      <a:r>
                        <a:rPr sz="1100" b="1">
                          <a:solidFill>
                            <a:srgbClr val="1B1B1B"/>
                          </a:solidFill>
                          <a:latin typeface="Calibri"/>
                        </a:rPr>
                        <a:t>Total fund</a:t>
                      </a:r>
                    </a:p>
                  </a:txBody>
                  <a:tcPr marL="73152" marR="73152" marT="36576" marB="36576" anchor="ctr">
                    <a:solidFill>
                      <a:srgbClr val="F3F2EE"/>
                    </a:solidFill>
                  </a:tcPr>
                </a:tc>
                <a:tc>
                  <a:txBody>
                    <a:bodyPr wrap="square"/>
                    <a:lstStyle/>
                    <a:p>
                      <a:pPr algn="r"/>
                      <a:r>
                        <a:rPr sz="1100" b="1">
                          <a:solidFill>
                            <a:srgbClr val="1B1B1B"/>
                          </a:solidFill>
                          <a:latin typeface="Calibri"/>
                        </a:rPr>
                        <a:t>9.10%</a:t>
                      </a:r>
                    </a:p>
                  </a:txBody>
                  <a:tcPr marL="73152" marR="73152" marT="36576" marB="36576" anchor="ctr">
                    <a:solidFill>
                      <a:srgbClr val="F3F2EE"/>
                    </a:solidFill>
                  </a:tcPr>
                </a:tc>
                <a:tc>
                  <a:txBody>
                    <a:bodyPr wrap="square"/>
                    <a:lstStyle/>
                    <a:p>
                      <a:pPr algn="r"/>
                      <a:r>
                        <a:rPr sz="1100" b="1">
                          <a:solidFill>
                            <a:srgbClr val="1B1B1B"/>
                          </a:solidFill>
                          <a:latin typeface="Calibri"/>
                        </a:rPr>
                        <a:t>1.28%</a:t>
                      </a:r>
                    </a:p>
                  </a:txBody>
                  <a:tcPr marL="73152" marR="73152" marT="36576" marB="36576" anchor="ctr">
                    <a:solidFill>
                      <a:srgbClr val="F3F2EE"/>
                    </a:solidFill>
                  </a:tcPr>
                </a:tc>
                <a:tc>
                  <a:txBody>
                    <a:bodyPr wrap="square"/>
                    <a:lstStyle/>
                    <a:p>
                      <a:pPr algn="r"/>
                      <a:r>
                        <a:rPr sz="1100" b="1">
                          <a:solidFill>
                            <a:srgbClr val="1B1B1B"/>
                          </a:solidFill>
                          <a:latin typeface="Calibri"/>
                        </a:rPr>
                        <a:t>0.36</a:t>
                      </a:r>
                    </a:p>
                  </a:txBody>
                  <a:tcPr marL="73152" marR="73152" marT="36576" marB="36576" anchor="ctr">
                    <a:solidFill>
                      <a:srgbClr val="F3F2EE"/>
                    </a:solidFill>
                  </a:tcPr>
                </a:tc>
                <a:tc>
                  <a:txBody>
                    <a:bodyPr wrap="square"/>
                    <a:lstStyle/>
                    <a:p>
                      <a:pPr algn="r"/>
                      <a:r>
                        <a:rPr sz="1100" b="1">
                          <a:solidFill>
                            <a:srgbClr val="1B1B1B"/>
                          </a:solidFill>
                          <a:latin typeface="Calibri"/>
                        </a:rPr>
                        <a:t>0.64</a:t>
                      </a:r>
                    </a:p>
                  </a:txBody>
                  <a:tcPr marL="73152" marR="73152" marT="36576" marB="36576" anchor="ctr">
                    <a:solidFill>
                      <a:srgbClr val="F3F2EE"/>
                    </a:solidFill>
                  </a:tcPr>
                </a:tc>
                <a:tc>
                  <a:txBody>
                    <a:bodyPr wrap="square"/>
                    <a:lstStyle/>
                    <a:p>
                      <a:pPr algn="r"/>
                      <a:r>
                        <a:rPr sz="1100" b="1">
                          <a:solidFill>
                            <a:srgbClr val="1B1B1B"/>
                          </a:solidFill>
                          <a:latin typeface="Calibri"/>
                        </a:rPr>
                        <a:t>-6.09%</a:t>
                      </a:r>
                    </a:p>
                  </a:txBody>
                  <a:tcPr marL="73152" marR="73152" marT="36576" marB="36576" anchor="ctr">
                    <a:solidFill>
                      <a:srgbClr val="F3F2EE"/>
                    </a:solidFill>
                  </a:tcPr>
                </a:tc>
              </a:tr>
            </a:tbl>
          </a:graphicData>
        </a:graphic>
      </p:graphicFrame>
      <p:sp>
        <p:nvSpPr>
          <p:cNvPr id="7" name="TextBox 6"/>
          <p:cNvSpPr txBox="1"/>
          <p:nvPr/>
        </p:nvSpPr>
        <p:spPr>
          <a:xfrm>
            <a:off x="548640" y="5897880"/>
            <a:ext cx="11094415" cy="457200"/>
          </a:xfrm>
          <a:prstGeom prst="rect">
            <a:avLst/>
          </a:prstGeom>
          <a:noFill/>
        </p:spPr>
        <p:txBody>
          <a:bodyPr wrap="square" anchor="t" lIns="0" rIns="0">
            <a:spAutoFit/>
          </a:bodyPr>
          <a:lstStyle/>
          <a:p>
            <a:pPr algn="l"/>
            <a:r>
              <a:rPr sz="1000" b="0" i="1">
                <a:solidFill>
                  <a:srgbClr val="8A8984"/>
                </a:solidFill>
                <a:latin typeface="Calibri"/>
              </a:rPr>
              <a:t>Volatility and tracking error are annualised standard deviations of monthly returns / excess returns.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Funding position and interest-rate hedging</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12</a:t>
            </a:r>
          </a:p>
        </p:txBody>
      </p:sp>
      <p:sp>
        <p:nvSpPr>
          <p:cNvPr id="6" name="Rounded Rectangle 5"/>
          <p:cNvSpPr/>
          <p:nvPr/>
        </p:nvSpPr>
        <p:spPr>
          <a:xfrm>
            <a:off x="548640"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578803" cy="548640"/>
          </a:xfrm>
          <a:prstGeom prst="rect">
            <a:avLst/>
          </a:prstGeom>
          <a:noFill/>
        </p:spPr>
        <p:txBody>
          <a:bodyPr wrap="square" anchor="t" lIns="0" rIns="0">
            <a:spAutoFit/>
          </a:bodyPr>
          <a:lstStyle/>
          <a:p>
            <a:pPr algn="l"/>
            <a:r>
              <a:rPr sz="1100" b="1" i="0">
                <a:solidFill>
                  <a:srgbClr val="52514E"/>
                </a:solidFill>
                <a:latin typeface="Calibri"/>
              </a:rPr>
              <a:t>FUNDING RATIO</a:t>
            </a:r>
          </a:p>
        </p:txBody>
      </p:sp>
      <p:sp>
        <p:nvSpPr>
          <p:cNvPr id="8" name="TextBox 7"/>
          <p:cNvSpPr txBox="1"/>
          <p:nvPr/>
        </p:nvSpPr>
        <p:spPr>
          <a:xfrm>
            <a:off x="777240" y="2286000"/>
            <a:ext cx="1578803" cy="822960"/>
          </a:xfrm>
          <a:prstGeom prst="rect">
            <a:avLst/>
          </a:prstGeom>
          <a:noFill/>
        </p:spPr>
        <p:txBody>
          <a:bodyPr wrap="square" anchor="t" lIns="0" rIns="0">
            <a:spAutoFit/>
          </a:bodyPr>
          <a:lstStyle/>
          <a:p>
            <a:pPr algn="l"/>
            <a:r>
              <a:rPr sz="2600" b="1" i="0">
                <a:solidFill>
                  <a:srgbClr val="17324D"/>
                </a:solidFill>
                <a:latin typeface="Calibri"/>
              </a:rPr>
              <a:t>93.40%</a:t>
            </a:r>
          </a:p>
        </p:txBody>
      </p:sp>
      <p:sp>
        <p:nvSpPr>
          <p:cNvPr id="9" name="Rounded Rectangle 8"/>
          <p:cNvSpPr/>
          <p:nvPr/>
        </p:nvSpPr>
        <p:spPr>
          <a:xfrm>
            <a:off x="2813243"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1843" y="1783080"/>
            <a:ext cx="1578803" cy="548640"/>
          </a:xfrm>
          <a:prstGeom prst="rect">
            <a:avLst/>
          </a:prstGeom>
          <a:noFill/>
        </p:spPr>
        <p:txBody>
          <a:bodyPr wrap="square" anchor="t" lIns="0" rIns="0">
            <a:spAutoFit/>
          </a:bodyPr>
          <a:lstStyle/>
          <a:p>
            <a:pPr algn="l"/>
            <a:r>
              <a:rPr sz="1100" b="1" i="0">
                <a:solidFill>
                  <a:srgbClr val="52514E"/>
                </a:solidFill>
                <a:latin typeface="Calibri"/>
              </a:rPr>
              <a:t>LIABILITIES</a:t>
            </a:r>
          </a:p>
        </p:txBody>
      </p:sp>
      <p:sp>
        <p:nvSpPr>
          <p:cNvPr id="11" name="TextBox 10"/>
          <p:cNvSpPr txBox="1"/>
          <p:nvPr/>
        </p:nvSpPr>
        <p:spPr>
          <a:xfrm>
            <a:off x="3041843" y="2286000"/>
            <a:ext cx="1578803" cy="822960"/>
          </a:xfrm>
          <a:prstGeom prst="rect">
            <a:avLst/>
          </a:prstGeom>
          <a:noFill/>
        </p:spPr>
        <p:txBody>
          <a:bodyPr wrap="square" anchor="t" lIns="0" rIns="0">
            <a:spAutoFit/>
          </a:bodyPr>
          <a:lstStyle/>
          <a:p>
            <a:pPr algn="l"/>
            <a:r>
              <a:rPr sz="2600" b="1" i="0">
                <a:solidFill>
                  <a:srgbClr val="17324D"/>
                </a:solidFill>
                <a:latin typeface="Calibri"/>
              </a:rPr>
              <a:t>£1.65bn</a:t>
            </a:r>
          </a:p>
        </p:txBody>
      </p:sp>
      <p:sp>
        <p:nvSpPr>
          <p:cNvPr id="12" name="Rounded Rectangle 11"/>
          <p:cNvSpPr/>
          <p:nvPr/>
        </p:nvSpPr>
        <p:spPr>
          <a:xfrm>
            <a:off x="5077846"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6446" y="1783080"/>
            <a:ext cx="1578803" cy="548640"/>
          </a:xfrm>
          <a:prstGeom prst="rect">
            <a:avLst/>
          </a:prstGeom>
          <a:noFill/>
        </p:spPr>
        <p:txBody>
          <a:bodyPr wrap="square" anchor="t" lIns="0" rIns="0">
            <a:spAutoFit/>
          </a:bodyPr>
          <a:lstStyle/>
          <a:p>
            <a:pPr algn="l"/>
            <a:r>
              <a:rPr sz="1100" b="1" i="0">
                <a:solidFill>
                  <a:srgbClr val="52514E"/>
                </a:solidFill>
                <a:latin typeface="Calibri"/>
              </a:rPr>
              <a:t>SURPLUS / (DEFICIT)</a:t>
            </a:r>
          </a:p>
        </p:txBody>
      </p:sp>
      <p:sp>
        <p:nvSpPr>
          <p:cNvPr id="14" name="TextBox 13"/>
          <p:cNvSpPr txBox="1"/>
          <p:nvPr/>
        </p:nvSpPr>
        <p:spPr>
          <a:xfrm>
            <a:off x="5306446" y="2286000"/>
            <a:ext cx="1578803" cy="822960"/>
          </a:xfrm>
          <a:prstGeom prst="rect">
            <a:avLst/>
          </a:prstGeom>
          <a:noFill/>
        </p:spPr>
        <p:txBody>
          <a:bodyPr wrap="square" anchor="t" lIns="0" rIns="0">
            <a:spAutoFit/>
          </a:bodyPr>
          <a:lstStyle/>
          <a:p>
            <a:pPr algn="l"/>
            <a:r>
              <a:rPr sz="2600" b="1" i="0">
                <a:solidFill>
                  <a:srgbClr val="17324D"/>
                </a:solidFill>
                <a:latin typeface="Calibri"/>
              </a:rPr>
              <a:t>-£108.6m</a:t>
            </a:r>
          </a:p>
        </p:txBody>
      </p:sp>
      <p:sp>
        <p:nvSpPr>
          <p:cNvPr id="15" name="Rounded Rectangle 14"/>
          <p:cNvSpPr/>
          <p:nvPr/>
        </p:nvSpPr>
        <p:spPr>
          <a:xfrm>
            <a:off x="7342449"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049" y="1783080"/>
            <a:ext cx="1578803" cy="548640"/>
          </a:xfrm>
          <a:prstGeom prst="rect">
            <a:avLst/>
          </a:prstGeom>
          <a:noFill/>
        </p:spPr>
        <p:txBody>
          <a:bodyPr wrap="square" anchor="t" lIns="0" rIns="0">
            <a:spAutoFit/>
          </a:bodyPr>
          <a:lstStyle/>
          <a:p>
            <a:pPr algn="l"/>
            <a:r>
              <a:rPr sz="1100" b="1" i="0">
                <a:solidFill>
                  <a:srgbClr val="52514E"/>
                </a:solidFill>
                <a:latin typeface="Calibri"/>
              </a:rPr>
              <a:t>HEDGE RATIO</a:t>
            </a:r>
          </a:p>
        </p:txBody>
      </p:sp>
      <p:sp>
        <p:nvSpPr>
          <p:cNvPr id="17" name="TextBox 16"/>
          <p:cNvSpPr txBox="1"/>
          <p:nvPr/>
        </p:nvSpPr>
        <p:spPr>
          <a:xfrm>
            <a:off x="7571049" y="2286000"/>
            <a:ext cx="1578803" cy="822960"/>
          </a:xfrm>
          <a:prstGeom prst="rect">
            <a:avLst/>
          </a:prstGeom>
          <a:noFill/>
        </p:spPr>
        <p:txBody>
          <a:bodyPr wrap="square" anchor="t" lIns="0" rIns="0">
            <a:spAutoFit/>
          </a:bodyPr>
          <a:lstStyle/>
          <a:p>
            <a:pPr algn="l"/>
            <a:r>
              <a:rPr sz="2600" b="1" i="0">
                <a:solidFill>
                  <a:srgbClr val="17324D"/>
                </a:solidFill>
                <a:latin typeface="Calibri"/>
              </a:rPr>
              <a:t>81.96%</a:t>
            </a:r>
          </a:p>
        </p:txBody>
      </p:sp>
      <p:sp>
        <p:nvSpPr>
          <p:cNvPr id="18" name="Rounded Rectangle 17"/>
          <p:cNvSpPr/>
          <p:nvPr/>
        </p:nvSpPr>
        <p:spPr>
          <a:xfrm>
            <a:off x="9607052" y="1554480"/>
            <a:ext cx="2036003" cy="2103120"/>
          </a:xfrm>
          <a:prstGeom prst="roundRect">
            <a:avLst>
              <a:gd name="adj" fmla="val 6000"/>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35652" y="1783080"/>
            <a:ext cx="1578803" cy="548640"/>
          </a:xfrm>
          <a:prstGeom prst="rect">
            <a:avLst/>
          </a:prstGeom>
          <a:noFill/>
        </p:spPr>
        <p:txBody>
          <a:bodyPr wrap="square" anchor="t" lIns="0" rIns="0">
            <a:spAutoFit/>
          </a:bodyPr>
          <a:lstStyle/>
          <a:p>
            <a:pPr algn="l"/>
            <a:r>
              <a:rPr sz="1100" b="1" i="0">
                <a:solidFill>
                  <a:srgbClr val="52514E"/>
                </a:solidFill>
                <a:latin typeface="Calibri"/>
              </a:rPr>
              <a:t>LIABILITY DURATION</a:t>
            </a:r>
          </a:p>
        </p:txBody>
      </p:sp>
      <p:sp>
        <p:nvSpPr>
          <p:cNvPr id="20" name="TextBox 19"/>
          <p:cNvSpPr txBox="1"/>
          <p:nvPr/>
        </p:nvSpPr>
        <p:spPr>
          <a:xfrm>
            <a:off x="9835652" y="2286000"/>
            <a:ext cx="1578803" cy="822960"/>
          </a:xfrm>
          <a:prstGeom prst="rect">
            <a:avLst/>
          </a:prstGeom>
          <a:noFill/>
        </p:spPr>
        <p:txBody>
          <a:bodyPr wrap="square" anchor="t" lIns="0" rIns="0">
            <a:spAutoFit/>
          </a:bodyPr>
          <a:lstStyle/>
          <a:p>
            <a:pPr algn="l"/>
            <a:r>
              <a:rPr sz="2600" b="1" i="0">
                <a:solidFill>
                  <a:srgbClr val="17324D"/>
                </a:solidFill>
                <a:latin typeface="Calibri"/>
              </a:rPr>
              <a:t>15.6 yrs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Stress tests: change in funding ratio</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13</a:t>
            </a:r>
          </a:p>
        </p:txBody>
      </p:sp>
      <p:pic>
        <p:nvPicPr>
          <p:cNvPr id="6" name="Picture 5" descr="stress.png"/>
          <p:cNvPicPr>
            <a:picLocks noChangeAspect="1"/>
          </p:cNvPicPr>
          <p:nvPr/>
        </p:nvPicPr>
        <p:blipFill>
          <a:blip r:embed="rId2"/>
          <a:stretch>
            <a:fillRect/>
          </a:stretch>
        </p:blipFill>
        <p:spPr>
          <a:xfrm>
            <a:off x="548640" y="1188720"/>
            <a:ext cx="11094415" cy="462267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Funding position and interest-rate hedging</a:t>
            </a:r>
          </a:p>
        </p:txBody>
      </p:sp>
      <p:sp>
        <p:nvSpPr>
          <p:cNvPr id="4" name="TextBox 3"/>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5" name="TextBox 4"/>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14</a:t>
            </a:r>
          </a:p>
        </p:txBody>
      </p:sp>
      <p:graphicFrame>
        <p:nvGraphicFramePr>
          <p:cNvPr id="6" name="Table 5"/>
          <p:cNvGraphicFramePr>
            <a:graphicFrameLocks noGrp="1"/>
          </p:cNvGraphicFramePr>
          <p:nvPr/>
        </p:nvGraphicFramePr>
        <p:xfrm>
          <a:off x="548640" y="1280160"/>
          <a:ext cx="11094414" cy="1920240"/>
        </p:xfrm>
        <a:graphic>
          <a:graphicData uri="http://schemas.openxmlformats.org/drawingml/2006/table">
            <a:tbl>
              <a:tblPr firstRow="1" bandRow="1">
                <a:tableStyleId>{5C22544A-7EE6-4342-B048-85BDC9FD1C3A}</a:tableStyleId>
              </a:tblPr>
              <a:tblGrid>
                <a:gridCol w="4437766"/>
                <a:gridCol w="3328324"/>
                <a:gridCol w="3328324"/>
              </a:tblGrid>
              <a:tr h="384048">
                <a:tc>
                  <a:txBody>
                    <a:bodyPr wrap="square"/>
                    <a:lstStyle/>
                    <a:p>
                      <a:pPr algn="l"/>
                      <a:r>
                        <a:rPr sz="1100" b="1">
                          <a:solidFill>
                            <a:srgbClr val="FFFFFF"/>
                          </a:solidFill>
                          <a:latin typeface="Calibri"/>
                        </a:rPr>
                        <a:t>Scenario</a:t>
                      </a:r>
                    </a:p>
                  </a:txBody>
                  <a:tcPr marL="73152" marR="73152" marT="36576" marB="36576" anchor="ctr">
                    <a:solidFill>
                      <a:srgbClr val="17324D"/>
                    </a:solidFill>
                  </a:tcPr>
                </a:tc>
                <a:tc>
                  <a:txBody>
                    <a:bodyPr wrap="square"/>
                    <a:lstStyle/>
                    <a:p>
                      <a:pPr algn="r"/>
                      <a:r>
                        <a:rPr sz="1100" b="1">
                          <a:solidFill>
                            <a:srgbClr val="FFFFFF"/>
                          </a:solidFill>
                          <a:latin typeface="Calibri"/>
                        </a:rPr>
                        <a:t>Funding ratio after</a:t>
                      </a:r>
                    </a:p>
                  </a:txBody>
                  <a:tcPr marL="73152" marR="73152" marT="36576" marB="36576" anchor="ctr">
                    <a:solidFill>
                      <a:srgbClr val="17324D"/>
                    </a:solidFill>
                  </a:tcPr>
                </a:tc>
                <a:tc>
                  <a:txBody>
                    <a:bodyPr wrap="square"/>
                    <a:lstStyle/>
                    <a:p>
                      <a:pPr algn="r"/>
                      <a:r>
                        <a:rPr sz="1100" b="1">
                          <a:solidFill>
                            <a:srgbClr val="FFFFFF"/>
                          </a:solidFill>
                          <a:latin typeface="Calibri"/>
                        </a:rPr>
                        <a:t>Change</a:t>
                      </a:r>
                    </a:p>
                  </a:txBody>
                  <a:tcPr marL="73152" marR="73152" marT="36576" marB="36576" anchor="ctr">
                    <a:solidFill>
                      <a:srgbClr val="17324D"/>
                    </a:solidFill>
                  </a:tcPr>
                </a:tc>
              </a:tr>
              <a:tr h="384048">
                <a:tc>
                  <a:txBody>
                    <a:bodyPr wrap="square"/>
                    <a:lstStyle/>
                    <a:p>
                      <a:pPr algn="l"/>
                      <a:r>
                        <a:rPr sz="1100" b="0">
                          <a:solidFill>
                            <a:srgbClr val="1B1B1B"/>
                          </a:solidFill>
                          <a:latin typeface="Calibri"/>
                        </a:rPr>
                        <a:t>Rates -100bp</a:t>
                      </a:r>
                    </a:p>
                  </a:txBody>
                  <a:tcPr marL="73152" marR="73152" marT="36576" marB="36576" anchor="ctr">
                    <a:solidFill>
                      <a:srgbClr val="FFFFFF"/>
                    </a:solidFill>
                  </a:tcPr>
                </a:tc>
                <a:tc>
                  <a:txBody>
                    <a:bodyPr wrap="square"/>
                    <a:lstStyle/>
                    <a:p>
                      <a:pPr algn="r"/>
                      <a:r>
                        <a:rPr sz="1100" b="0">
                          <a:solidFill>
                            <a:srgbClr val="1B1B1B"/>
                          </a:solidFill>
                          <a:latin typeface="Calibri"/>
                        </a:rPr>
                        <a:t>90.22%</a:t>
                      </a:r>
                    </a:p>
                  </a:txBody>
                  <a:tcPr marL="73152" marR="73152" marT="36576" marB="36576" anchor="ctr">
                    <a:solidFill>
                      <a:srgbClr val="FFFFFF"/>
                    </a:solidFill>
                  </a:tcPr>
                </a:tc>
                <a:tc>
                  <a:txBody>
                    <a:bodyPr wrap="square"/>
                    <a:lstStyle/>
                    <a:p>
                      <a:pPr algn="r"/>
                      <a:r>
                        <a:rPr sz="1100" b="0">
                          <a:solidFill>
                            <a:srgbClr val="C0392B"/>
                          </a:solidFill>
                          <a:latin typeface="Calibri"/>
                        </a:rPr>
                        <a:t>-3.18%</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Rates +100bp</a:t>
                      </a:r>
                    </a:p>
                  </a:txBody>
                  <a:tcPr marL="73152" marR="73152" marT="36576" marB="36576" anchor="ctr">
                    <a:solidFill>
                      <a:srgbClr val="FAFAF8"/>
                    </a:solidFill>
                  </a:tcPr>
                </a:tc>
                <a:tc>
                  <a:txBody>
                    <a:bodyPr wrap="square"/>
                    <a:lstStyle/>
                    <a:p>
                      <a:pPr algn="r"/>
                      <a:r>
                        <a:rPr sz="1100" b="0">
                          <a:solidFill>
                            <a:srgbClr val="1B1B1B"/>
                          </a:solidFill>
                          <a:latin typeface="Calibri"/>
                        </a:rPr>
                        <a:t>93.64%</a:t>
                      </a:r>
                    </a:p>
                  </a:txBody>
                  <a:tcPr marL="73152" marR="73152" marT="36576" marB="36576" anchor="ctr">
                    <a:solidFill>
                      <a:srgbClr val="FAFAF8"/>
                    </a:solidFill>
                  </a:tcPr>
                </a:tc>
                <a:tc>
                  <a:txBody>
                    <a:bodyPr wrap="square"/>
                    <a:lstStyle/>
                    <a:p>
                      <a:pPr algn="r"/>
                      <a:r>
                        <a:rPr sz="1100" b="0">
                          <a:solidFill>
                            <a:srgbClr val="0B7A3E"/>
                          </a:solidFill>
                          <a:latin typeface="Calibri"/>
                        </a:rPr>
                        <a:t>+0.24%</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Equities -20%</a:t>
                      </a:r>
                    </a:p>
                  </a:txBody>
                  <a:tcPr marL="73152" marR="73152" marT="36576" marB="36576" anchor="ctr">
                    <a:solidFill>
                      <a:srgbClr val="FFFFFF"/>
                    </a:solidFill>
                  </a:tcPr>
                </a:tc>
                <a:tc>
                  <a:txBody>
                    <a:bodyPr wrap="square"/>
                    <a:lstStyle/>
                    <a:p>
                      <a:pPr algn="r"/>
                      <a:r>
                        <a:rPr sz="1100" b="0">
                          <a:solidFill>
                            <a:srgbClr val="1B1B1B"/>
                          </a:solidFill>
                          <a:latin typeface="Calibri"/>
                        </a:rPr>
                        <a:t>82.49%</a:t>
                      </a:r>
                    </a:p>
                  </a:txBody>
                  <a:tcPr marL="73152" marR="73152" marT="36576" marB="36576" anchor="ctr">
                    <a:solidFill>
                      <a:srgbClr val="FFFFFF"/>
                    </a:solidFill>
                  </a:tcPr>
                </a:tc>
                <a:tc>
                  <a:txBody>
                    <a:bodyPr wrap="square"/>
                    <a:lstStyle/>
                    <a:p>
                      <a:pPr algn="r"/>
                      <a:r>
                        <a:rPr sz="1100" b="0">
                          <a:solidFill>
                            <a:srgbClr val="C0392B"/>
                          </a:solidFill>
                          <a:latin typeface="Calibri"/>
                        </a:rPr>
                        <a:t>-10.91%</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Equities -20% &amp; rates -50bp</a:t>
                      </a:r>
                    </a:p>
                  </a:txBody>
                  <a:tcPr marL="73152" marR="73152" marT="36576" marB="36576" anchor="ctr">
                    <a:solidFill>
                      <a:srgbClr val="FAFAF8"/>
                    </a:solidFill>
                  </a:tcPr>
                </a:tc>
                <a:tc>
                  <a:txBody>
                    <a:bodyPr wrap="square"/>
                    <a:lstStyle/>
                    <a:p>
                      <a:pPr algn="r"/>
                      <a:r>
                        <a:rPr sz="1100" b="0">
                          <a:solidFill>
                            <a:srgbClr val="1B1B1B"/>
                          </a:solidFill>
                          <a:latin typeface="Calibri"/>
                        </a:rPr>
                        <a:t>82.08%</a:t>
                      </a:r>
                    </a:p>
                  </a:txBody>
                  <a:tcPr marL="73152" marR="73152" marT="36576" marB="36576" anchor="ctr">
                    <a:solidFill>
                      <a:srgbClr val="FAFAF8"/>
                    </a:solidFill>
                  </a:tcPr>
                </a:tc>
                <a:tc>
                  <a:txBody>
                    <a:bodyPr wrap="square"/>
                    <a:lstStyle/>
                    <a:p>
                      <a:pPr algn="r"/>
                      <a:r>
                        <a:rPr sz="1100" b="0">
                          <a:solidFill>
                            <a:srgbClr val="C0392B"/>
                          </a:solidFill>
                          <a:latin typeface="Calibri"/>
                        </a:rPr>
                        <a:t>-11.32%</a:t>
                      </a:r>
                    </a:p>
                  </a:txBody>
                  <a:tcPr marL="73152" marR="73152" marT="36576" marB="36576" anchor="ctr">
                    <a:solidFill>
                      <a:srgbClr val="FAFAF8"/>
                    </a:solidFill>
                  </a:tcPr>
                </a:tc>
              </a:tr>
            </a:tbl>
          </a:graphicData>
        </a:graphic>
      </p:graphicFrame>
      <p:sp>
        <p:nvSpPr>
          <p:cNvPr id="7" name="TextBox 6"/>
          <p:cNvSpPr txBox="1"/>
          <p:nvPr/>
        </p:nvSpPr>
        <p:spPr>
          <a:xfrm>
            <a:off x="548640" y="5897880"/>
            <a:ext cx="11094415" cy="457200"/>
          </a:xfrm>
          <a:prstGeom prst="rect">
            <a:avLst/>
          </a:prstGeom>
          <a:noFill/>
        </p:spPr>
        <p:txBody>
          <a:bodyPr wrap="square" anchor="t" lIns="0" rIns="0">
            <a:spAutoFit/>
          </a:bodyPr>
          <a:lstStyle/>
          <a:p>
            <a:pPr algn="l"/>
            <a:r>
              <a:rPr sz="1000" b="0" i="1">
                <a:solidFill>
                  <a:srgbClr val="8A8984"/>
                </a:solidFill>
                <a:latin typeface="Calibri"/>
              </a:rPr>
              <a:t>Liabilities are revalued on a shifted zero curve bootstrapped from government par yields; rate-sensitive assets move by -duration x shift; growth assets take the equity shock.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Projected funding ratio (10 years)</a:t>
            </a:r>
          </a:p>
        </p:txBody>
      </p:sp>
      <p:sp>
        <p:nvSpPr>
          <p:cNvPr id="4" name="TextBox 3"/>
          <p:cNvSpPr txBox="1"/>
          <p:nvPr/>
        </p:nvSpPr>
        <p:spPr>
          <a:xfrm>
            <a:off x="548640" y="960120"/>
            <a:ext cx="11094415" cy="548640"/>
          </a:xfrm>
          <a:prstGeom prst="rect">
            <a:avLst/>
          </a:prstGeom>
          <a:noFill/>
        </p:spPr>
        <p:txBody>
          <a:bodyPr wrap="square" anchor="t" lIns="0" rIns="0">
            <a:spAutoFit/>
          </a:bodyPr>
          <a:lstStyle/>
          <a:p>
            <a:pPr algn="l"/>
            <a:r>
              <a:rPr sz="1300" b="0" i="0">
                <a:solidFill>
                  <a:srgbClr val="52514E"/>
                </a:solidFill>
                <a:latin typeface="Calibri"/>
              </a:rPr>
              <a:t>The median projected funding ratio in ten years is 97.29%, with a 47% probability of being fully funded, assuming the deficit is paid off by the sponsor over ten years. This illustrates the range of outcomes and is not an actuarial valuation.</a:t>
            </a:r>
          </a:p>
        </p:txBody>
      </p:sp>
      <p:sp>
        <p:nvSpPr>
          <p:cNvPr id="5" name="TextBox 4"/>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6" name="TextBox 5"/>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15</a:t>
            </a:r>
          </a:p>
        </p:txBody>
      </p:sp>
      <p:pic>
        <p:nvPicPr>
          <p:cNvPr id="7" name="Picture 6" descr="funding_fan.png"/>
          <p:cNvPicPr>
            <a:picLocks noChangeAspect="1"/>
          </p:cNvPicPr>
          <p:nvPr/>
        </p:nvPicPr>
        <p:blipFill>
          <a:blip r:embed="rId2"/>
          <a:stretch>
            <a:fillRect/>
          </a:stretch>
        </p:blipFill>
        <p:spPr>
          <a:xfrm>
            <a:off x="1158087" y="1600200"/>
            <a:ext cx="9875520" cy="4114800"/>
          </a:xfrm>
          <a:prstGeom prst="rect">
            <a:avLst/>
          </a:prstGeom>
        </p:spPr>
      </p:pic>
      <p:sp>
        <p:nvSpPr>
          <p:cNvPr id="8" name="TextBox 7"/>
          <p:cNvSpPr txBox="1"/>
          <p:nvPr/>
        </p:nvSpPr>
        <p:spPr>
          <a:xfrm>
            <a:off x="548640" y="5788152"/>
            <a:ext cx="11094415" cy="320040"/>
          </a:xfrm>
          <a:prstGeom prst="rect">
            <a:avLst/>
          </a:prstGeom>
          <a:noFill/>
        </p:spPr>
        <p:txBody>
          <a:bodyPr wrap="square" anchor="t" lIns="0" rIns="0">
            <a:spAutoFit/>
          </a:bodyPr>
          <a:lstStyle/>
          <a:p>
            <a:pPr algn="l"/>
            <a:r>
              <a:rPr sz="1100" b="0" i="1">
                <a:solidFill>
                  <a:srgbClr val="8A8984"/>
                </a:solidFill>
                <a:latin typeface="Calibri"/>
              </a:rPr>
              <a:t>10,000 simulated paths of interest rates and growth-asset returns.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Data quality and reconciliation</a:t>
            </a:r>
          </a:p>
        </p:txBody>
      </p:sp>
      <p:sp>
        <p:nvSpPr>
          <p:cNvPr id="4" name="TextBox 3"/>
          <p:cNvSpPr txBox="1"/>
          <p:nvPr/>
        </p:nvSpPr>
        <p:spPr>
          <a:xfrm>
            <a:off x="548640" y="960120"/>
            <a:ext cx="11094415" cy="548640"/>
          </a:xfrm>
          <a:prstGeom prst="rect">
            <a:avLst/>
          </a:prstGeom>
          <a:noFill/>
        </p:spPr>
        <p:txBody>
          <a:bodyPr wrap="square" anchor="t" lIns="0" rIns="0">
            <a:spAutoFit/>
          </a:bodyPr>
          <a:lstStyle/>
          <a:p>
            <a:pPr algn="l"/>
            <a:r>
              <a:rPr sz="1300" b="0" i="0">
                <a:solidFill>
                  <a:srgbClr val="52514E"/>
                </a:solidFill>
                <a:latin typeface="Calibri"/>
              </a:rPr>
              <a:t>Every monthly return was checked against the fund manager's own figures. 4 difference(s) above tolerance were found in the reporting history; 0 material item(s) remain open.</a:t>
            </a:r>
          </a:p>
        </p:txBody>
      </p:sp>
      <p:sp>
        <p:nvSpPr>
          <p:cNvPr id="5" name="TextBox 4"/>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6" name="TextBox 5"/>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16</a:t>
            </a:r>
          </a:p>
        </p:txBody>
      </p:sp>
      <p:graphicFrame>
        <p:nvGraphicFramePr>
          <p:cNvPr id="7" name="Table 6"/>
          <p:cNvGraphicFramePr>
            <a:graphicFrameLocks noGrp="1"/>
          </p:cNvGraphicFramePr>
          <p:nvPr/>
        </p:nvGraphicFramePr>
        <p:xfrm>
          <a:off x="548640" y="1691640"/>
          <a:ext cx="11094413" cy="1920240"/>
        </p:xfrm>
        <a:graphic>
          <a:graphicData uri="http://schemas.openxmlformats.org/drawingml/2006/table">
            <a:tbl>
              <a:tblPr firstRow="1" bandRow="1">
                <a:tableStyleId>{5C22544A-7EE6-4342-B048-85BDC9FD1C3A}</a:tableStyleId>
              </a:tblPr>
              <a:tblGrid>
                <a:gridCol w="1996994"/>
                <a:gridCol w="1153819"/>
                <a:gridCol w="1153819"/>
                <a:gridCol w="1153819"/>
                <a:gridCol w="1153819"/>
                <a:gridCol w="1153819"/>
                <a:gridCol w="3328324"/>
              </a:tblGrid>
              <a:tr h="384048">
                <a:tc>
                  <a:txBody>
                    <a:bodyPr wrap="square"/>
                    <a:lstStyle/>
                    <a:p>
                      <a:pPr algn="l"/>
                      <a:r>
                        <a:rPr sz="1000" b="1">
                          <a:solidFill>
                            <a:srgbClr val="FFFFFF"/>
                          </a:solidFill>
                          <a:latin typeface="Calibri"/>
                        </a:rPr>
                        <a:t>Mandate</a:t>
                      </a:r>
                    </a:p>
                  </a:txBody>
                  <a:tcPr marL="73152" marR="73152" marT="36576" marB="36576" anchor="ctr">
                    <a:solidFill>
                      <a:srgbClr val="17324D"/>
                    </a:solidFill>
                  </a:tcPr>
                </a:tc>
                <a:tc>
                  <a:txBody>
                    <a:bodyPr wrap="square"/>
                    <a:lstStyle/>
                    <a:p>
                      <a:pPr algn="r"/>
                      <a:r>
                        <a:rPr sz="1000" b="1">
                          <a:solidFill>
                            <a:srgbClr val="FFFFFF"/>
                          </a:solidFill>
                          <a:latin typeface="Calibri"/>
                        </a:rPr>
                        <a:t>Month</a:t>
                      </a:r>
                    </a:p>
                  </a:txBody>
                  <a:tcPr marL="73152" marR="73152" marT="36576" marB="36576" anchor="ctr">
                    <a:solidFill>
                      <a:srgbClr val="17324D"/>
                    </a:solidFill>
                  </a:tcPr>
                </a:tc>
                <a:tc>
                  <a:txBody>
                    <a:bodyPr wrap="square"/>
                    <a:lstStyle/>
                    <a:p>
                      <a:pPr algn="r"/>
                      <a:r>
                        <a:rPr sz="1000" b="1">
                          <a:solidFill>
                            <a:srgbClr val="FFFFFF"/>
                          </a:solidFill>
                          <a:latin typeface="Calibri"/>
                        </a:rPr>
                        <a:t>Issue</a:t>
                      </a:r>
                    </a:p>
                  </a:txBody>
                  <a:tcPr marL="73152" marR="73152" marT="36576" marB="36576" anchor="ctr">
                    <a:solidFill>
                      <a:srgbClr val="17324D"/>
                    </a:solidFill>
                  </a:tcPr>
                </a:tc>
                <a:tc>
                  <a:txBody>
                    <a:bodyPr wrap="square"/>
                    <a:lstStyle/>
                    <a:p>
                      <a:pPr algn="r"/>
                      <a:r>
                        <a:rPr sz="1000" b="1">
                          <a:solidFill>
                            <a:srgbClr val="FFFFFF"/>
                          </a:solidFill>
                          <a:latin typeface="Calibri"/>
                        </a:rPr>
                        <a:t>Custodian</a:t>
                      </a:r>
                    </a:p>
                  </a:txBody>
                  <a:tcPr marL="73152" marR="73152" marT="36576" marB="36576" anchor="ctr">
                    <a:solidFill>
                      <a:srgbClr val="17324D"/>
                    </a:solidFill>
                  </a:tcPr>
                </a:tc>
                <a:tc>
                  <a:txBody>
                    <a:bodyPr wrap="square"/>
                    <a:lstStyle/>
                    <a:p>
                      <a:pPr algn="r"/>
                      <a:r>
                        <a:rPr sz="1000" b="1">
                          <a:solidFill>
                            <a:srgbClr val="FFFFFF"/>
                          </a:solidFill>
                          <a:latin typeface="Calibri"/>
                        </a:rPr>
                        <a:t>Manager</a:t>
                      </a:r>
                    </a:p>
                  </a:txBody>
                  <a:tcPr marL="73152" marR="73152" marT="36576" marB="36576" anchor="ctr">
                    <a:solidFill>
                      <a:srgbClr val="17324D"/>
                    </a:solidFill>
                  </a:tcPr>
                </a:tc>
                <a:tc>
                  <a:txBody>
                    <a:bodyPr wrap="square"/>
                    <a:lstStyle/>
                    <a:p>
                      <a:pPr algn="r"/>
                      <a:r>
                        <a:rPr sz="1000" b="1">
                          <a:solidFill>
                            <a:srgbClr val="FFFFFF"/>
                          </a:solidFill>
                          <a:latin typeface="Calibri"/>
                        </a:rPr>
                        <a:t>Outcome</a:t>
                      </a:r>
                    </a:p>
                  </a:txBody>
                  <a:tcPr marL="73152" marR="73152" marT="36576" marB="36576" anchor="ctr">
                    <a:solidFill>
                      <a:srgbClr val="17324D"/>
                    </a:solidFill>
                  </a:tcPr>
                </a:tc>
                <a:tc>
                  <a:txBody>
                    <a:bodyPr wrap="square"/>
                    <a:lstStyle/>
                    <a:p>
                      <a:pPr algn="r"/>
                      <a:r>
                        <a:rPr sz="1000" b="1">
                          <a:solidFill>
                            <a:srgbClr val="FFFFFF"/>
                          </a:solidFill>
                          <a:latin typeface="Calibri"/>
                        </a:rPr>
                        <a:t>Reason</a:t>
                      </a:r>
                    </a:p>
                  </a:txBody>
                  <a:tcPr marL="73152" marR="73152" marT="36576" marB="36576" anchor="ctr">
                    <a:solidFill>
                      <a:srgbClr val="17324D"/>
                    </a:solidFill>
                  </a:tcPr>
                </a:tc>
              </a:tr>
              <a:tr h="384048">
                <a:tc>
                  <a:txBody>
                    <a:bodyPr wrap="square"/>
                    <a:lstStyle/>
                    <a:p>
                      <a:pPr algn="l"/>
                      <a:r>
                        <a:rPr sz="1000" b="0">
                          <a:solidFill>
                            <a:srgbClr val="1B1B1B"/>
                          </a:solidFill>
                          <a:latin typeface="Calibri"/>
                        </a:rPr>
                        <a:t>Global Equity</a:t>
                      </a:r>
                    </a:p>
                  </a:txBody>
                  <a:tcPr marL="73152" marR="73152" marT="36576" marB="36576" anchor="ctr">
                    <a:solidFill>
                      <a:srgbClr val="FFFFFF"/>
                    </a:solidFill>
                  </a:tcPr>
                </a:tc>
                <a:tc>
                  <a:txBody>
                    <a:bodyPr wrap="square"/>
                    <a:lstStyle/>
                    <a:p>
                      <a:pPr algn="l"/>
                      <a:r>
                        <a:rPr sz="1000" b="0">
                          <a:solidFill>
                            <a:srgbClr val="1B1B1B"/>
                          </a:solidFill>
                          <a:latin typeface="Calibri"/>
                        </a:rPr>
                        <a:t>2026-05</a:t>
                      </a:r>
                    </a:p>
                  </a:txBody>
                  <a:tcPr marL="73152" marR="73152" marT="36576" marB="36576" anchor="ctr">
                    <a:solidFill>
                      <a:srgbClr val="FFFFFF"/>
                    </a:solidFill>
                  </a:tcPr>
                </a:tc>
                <a:tc>
                  <a:txBody>
                    <a:bodyPr wrap="square"/>
                    <a:lstStyle/>
                    <a:p>
                      <a:pPr algn="l"/>
                      <a:r>
                        <a:rPr sz="1000" b="0">
                          <a:solidFill>
                            <a:srgbClr val="1B1B1B"/>
                          </a:solidFill>
                          <a:latin typeface="Calibri"/>
                        </a:rPr>
                        <a:t>value mismatch</a:t>
                      </a:r>
                    </a:p>
                  </a:txBody>
                  <a:tcPr marL="73152" marR="73152" marT="36576" marB="36576" anchor="ctr">
                    <a:solidFill>
                      <a:srgbClr val="FFFFFF"/>
                    </a:solidFill>
                  </a:tcPr>
                </a:tc>
                <a:tc>
                  <a:txBody>
                    <a:bodyPr wrap="square"/>
                    <a:lstStyle/>
                    <a:p>
                      <a:pPr algn="r"/>
                      <a:r>
                        <a:rPr sz="1000" b="0">
                          <a:solidFill>
                            <a:srgbClr val="1B1B1B"/>
                          </a:solidFill>
                          <a:latin typeface="Calibri"/>
                        </a:rPr>
                        <a:t>-1.37%</a:t>
                      </a:r>
                    </a:p>
                  </a:txBody>
                  <a:tcPr marL="73152" marR="73152" marT="36576" marB="36576" anchor="ctr">
                    <a:solidFill>
                      <a:srgbClr val="FFFFFF"/>
                    </a:solidFill>
                  </a:tcPr>
                </a:tc>
                <a:tc>
                  <a:txBody>
                    <a:bodyPr wrap="square"/>
                    <a:lstStyle/>
                    <a:p>
                      <a:pPr algn="r"/>
                      <a:r>
                        <a:rPr sz="1000" b="0">
                          <a:solidFill>
                            <a:srgbClr val="1B1B1B"/>
                          </a:solidFill>
                          <a:latin typeface="Calibri"/>
                        </a:rPr>
                        <a:t>-1.06%</a:t>
                      </a:r>
                    </a:p>
                  </a:txBody>
                  <a:tcPr marL="73152" marR="73152" marT="36576" marB="36576" anchor="ctr">
                    <a:solidFill>
                      <a:srgbClr val="FFFFFF"/>
                    </a:solidFill>
                  </a:tcPr>
                </a:tc>
                <a:tc>
                  <a:txBody>
                    <a:bodyPr wrap="square"/>
                    <a:lstStyle/>
                    <a:p>
                      <a:pPr algn="l"/>
                      <a:r>
                        <a:rPr sz="1000" b="0">
                          <a:solidFill>
                            <a:srgbClr val="1B1B1B"/>
                          </a:solidFill>
                          <a:latin typeface="Calibri"/>
                        </a:rPr>
                        <a:t>custodian accepted</a:t>
                      </a:r>
                    </a:p>
                  </a:txBody>
                  <a:tcPr marL="73152" marR="73152" marT="36576" marB="36576" anchor="ctr">
                    <a:solidFill>
                      <a:srgbClr val="FFFFFF"/>
                    </a:solidFill>
                  </a:tcPr>
                </a:tc>
                <a:tc>
                  <a:txBody>
                    <a:bodyPr wrap="square"/>
                    <a:lstStyle/>
                    <a:p>
                      <a:pPr algn="l"/>
                      <a:r>
                        <a:rPr sz="1000" b="0">
                          <a:solidFill>
                            <a:srgbClr val="1B1B1B"/>
                          </a:solidFill>
                          <a:latin typeface="Calibri"/>
                        </a:rPr>
                        <a:t>Manager quoted gross of fees; the custodian's net-of-fee figure is correct</a:t>
                      </a:r>
                    </a:p>
                  </a:txBody>
                  <a:tcPr marL="73152" marR="73152" marT="36576" marB="36576" anchor="ctr">
                    <a:solidFill>
                      <a:srgbClr val="FFFFFF"/>
                    </a:solidFill>
                  </a:tcPr>
                </a:tc>
              </a:tr>
              <a:tr h="384048">
                <a:tc>
                  <a:txBody>
                    <a:bodyPr wrap="square"/>
                    <a:lstStyle/>
                    <a:p>
                      <a:pPr algn="l"/>
                      <a:r>
                        <a:rPr sz="1000" b="0">
                          <a:solidFill>
                            <a:srgbClr val="1B1B1B"/>
                          </a:solidFill>
                          <a:latin typeface="Calibri"/>
                        </a:rPr>
                        <a:t>Buy &amp; Maintain Credit</a:t>
                      </a:r>
                    </a:p>
                  </a:txBody>
                  <a:tcPr marL="73152" marR="73152" marT="36576" marB="36576" anchor="ctr">
                    <a:solidFill>
                      <a:srgbClr val="FAFAF8"/>
                    </a:solidFill>
                  </a:tcPr>
                </a:tc>
                <a:tc>
                  <a:txBody>
                    <a:bodyPr wrap="square"/>
                    <a:lstStyle/>
                    <a:p>
                      <a:pPr algn="l"/>
                      <a:r>
                        <a:rPr sz="1000" b="0">
                          <a:solidFill>
                            <a:srgbClr val="1B1B1B"/>
                          </a:solidFill>
                          <a:latin typeface="Calibri"/>
                        </a:rPr>
                        <a:t>2026-06</a:t>
                      </a:r>
                    </a:p>
                  </a:txBody>
                  <a:tcPr marL="73152" marR="73152" marT="36576" marB="36576" anchor="ctr">
                    <a:solidFill>
                      <a:srgbClr val="FAFAF8"/>
                    </a:solidFill>
                  </a:tcPr>
                </a:tc>
                <a:tc>
                  <a:txBody>
                    <a:bodyPr wrap="square"/>
                    <a:lstStyle/>
                    <a:p>
                      <a:pPr algn="l"/>
                      <a:r>
                        <a:rPr sz="1000" b="0">
                          <a:solidFill>
                            <a:srgbClr val="1B1B1B"/>
                          </a:solidFill>
                          <a:latin typeface="Calibri"/>
                        </a:rPr>
                        <a:t>value mismatch</a:t>
                      </a:r>
                    </a:p>
                  </a:txBody>
                  <a:tcPr marL="73152" marR="73152" marT="36576" marB="36576" anchor="ctr">
                    <a:solidFill>
                      <a:srgbClr val="FAFAF8"/>
                    </a:solidFill>
                  </a:tcPr>
                </a:tc>
                <a:tc>
                  <a:txBody>
                    <a:bodyPr wrap="square"/>
                    <a:lstStyle/>
                    <a:p>
                      <a:pPr algn="r"/>
                      <a:r>
                        <a:rPr sz="1000" b="0">
                          <a:solidFill>
                            <a:srgbClr val="1B1B1B"/>
                          </a:solidFill>
                          <a:latin typeface="Calibri"/>
                        </a:rPr>
                        <a:t>0.33%</a:t>
                      </a:r>
                    </a:p>
                  </a:txBody>
                  <a:tcPr marL="73152" marR="73152" marT="36576" marB="36576" anchor="ctr">
                    <a:solidFill>
                      <a:srgbClr val="FAFAF8"/>
                    </a:solidFill>
                  </a:tcPr>
                </a:tc>
                <a:tc>
                  <a:txBody>
                    <a:bodyPr wrap="square"/>
                    <a:lstStyle/>
                    <a:p>
                      <a:pPr algn="r"/>
                      <a:r>
                        <a:rPr sz="1000" b="0">
                          <a:solidFill>
                            <a:srgbClr val="1B1B1B"/>
                          </a:solidFill>
                          <a:latin typeface="Calibri"/>
                        </a:rPr>
                        <a:t>0.42%</a:t>
                      </a:r>
                    </a:p>
                  </a:txBody>
                  <a:tcPr marL="73152" marR="73152" marT="36576" marB="36576" anchor="ctr">
                    <a:solidFill>
                      <a:srgbClr val="FAFAF8"/>
                    </a:solidFill>
                  </a:tcPr>
                </a:tc>
                <a:tc>
                  <a:txBody>
                    <a:bodyPr wrap="square"/>
                    <a:lstStyle/>
                    <a:p>
                      <a:pPr algn="l"/>
                      <a:r>
                        <a:rPr sz="1000" b="0">
                          <a:solidFill>
                            <a:srgbClr val="1B1B1B"/>
                          </a:solidFill>
                          <a:latin typeface="Calibri"/>
                        </a:rPr>
                        <a:t>custodian accepted</a:t>
                      </a:r>
                    </a:p>
                  </a:txBody>
                  <a:tcPr marL="73152" marR="73152" marT="36576" marB="36576" anchor="ctr">
                    <a:solidFill>
                      <a:srgbClr val="FAFAF8"/>
                    </a:solidFill>
                  </a:tcPr>
                </a:tc>
                <a:tc>
                  <a:txBody>
                    <a:bodyPr wrap="square"/>
                    <a:lstStyle/>
                    <a:p>
                      <a:pPr algn="l"/>
                      <a:r>
                        <a:rPr sz="1000" b="0">
                          <a:solidFill>
                            <a:srgbClr val="1B1B1B"/>
                          </a:solidFill>
                          <a:latin typeface="Calibri"/>
                        </a:rPr>
                        <a:t>Pricing-source timing difference within expected range</a:t>
                      </a:r>
                    </a:p>
                  </a:txBody>
                  <a:tcPr marL="73152" marR="73152" marT="36576" marB="36576" anchor="ctr">
                    <a:solidFill>
                      <a:srgbClr val="FAFAF8"/>
                    </a:solidFill>
                  </a:tcPr>
                </a:tc>
              </a:tr>
              <a:tr h="384048">
                <a:tc>
                  <a:txBody>
                    <a:bodyPr wrap="square"/>
                    <a:lstStyle/>
                    <a:p>
                      <a:pPr algn="l"/>
                      <a:r>
                        <a:rPr sz="1000" b="0">
                          <a:solidFill>
                            <a:srgbClr val="1B1B1B"/>
                          </a:solidFill>
                          <a:latin typeface="Calibri"/>
                        </a:rPr>
                        <a:t>Emerging Markets Equity</a:t>
                      </a:r>
                    </a:p>
                  </a:txBody>
                  <a:tcPr marL="73152" marR="73152" marT="36576" marB="36576" anchor="ctr">
                    <a:solidFill>
                      <a:srgbClr val="FFFFFF"/>
                    </a:solidFill>
                  </a:tcPr>
                </a:tc>
                <a:tc>
                  <a:txBody>
                    <a:bodyPr wrap="square"/>
                    <a:lstStyle/>
                    <a:p>
                      <a:pPr algn="l"/>
                      <a:r>
                        <a:rPr sz="1000" b="0">
                          <a:solidFill>
                            <a:srgbClr val="1B1B1B"/>
                          </a:solidFill>
                          <a:latin typeface="Calibri"/>
                        </a:rPr>
                        <a:t>2026-08</a:t>
                      </a:r>
                    </a:p>
                  </a:txBody>
                  <a:tcPr marL="73152" marR="73152" marT="36576" marB="36576" anchor="ctr">
                    <a:solidFill>
                      <a:srgbClr val="FFFFFF"/>
                    </a:solidFill>
                  </a:tcPr>
                </a:tc>
                <a:tc>
                  <a:txBody>
                    <a:bodyPr wrap="square"/>
                    <a:lstStyle/>
                    <a:p>
                      <a:pPr algn="l"/>
                      <a:r>
                        <a:rPr sz="1000" b="0">
                          <a:solidFill>
                            <a:srgbClr val="1B1B1B"/>
                          </a:solidFill>
                          <a:latin typeface="Calibri"/>
                        </a:rPr>
                        <a:t>value mismatch</a:t>
                      </a:r>
                    </a:p>
                  </a:txBody>
                  <a:tcPr marL="73152" marR="73152" marT="36576" marB="36576" anchor="ctr">
                    <a:solidFill>
                      <a:srgbClr val="FFFFFF"/>
                    </a:solidFill>
                  </a:tcPr>
                </a:tc>
                <a:tc>
                  <a:txBody>
                    <a:bodyPr wrap="square"/>
                    <a:lstStyle/>
                    <a:p>
                      <a:pPr algn="r"/>
                      <a:r>
                        <a:rPr sz="1000" b="0">
                          <a:solidFill>
                            <a:srgbClr val="1B1B1B"/>
                          </a:solidFill>
                          <a:latin typeface="Calibri"/>
                        </a:rPr>
                        <a:t>11.85%</a:t>
                      </a:r>
                    </a:p>
                  </a:txBody>
                  <a:tcPr marL="73152" marR="73152" marT="36576" marB="36576" anchor="ctr">
                    <a:solidFill>
                      <a:srgbClr val="FFFFFF"/>
                    </a:solidFill>
                  </a:tcPr>
                </a:tc>
                <a:tc>
                  <a:txBody>
                    <a:bodyPr wrap="square"/>
                    <a:lstStyle/>
                    <a:p>
                      <a:pPr algn="r"/>
                      <a:r>
                        <a:rPr sz="1000" b="0">
                          <a:solidFill>
                            <a:srgbClr val="1B1B1B"/>
                          </a:solidFill>
                          <a:latin typeface="Calibri"/>
                        </a:rPr>
                        <a:t>-11.85%</a:t>
                      </a:r>
                    </a:p>
                  </a:txBody>
                  <a:tcPr marL="73152" marR="73152" marT="36576" marB="36576" anchor="ctr">
                    <a:solidFill>
                      <a:srgbClr val="FFFFFF"/>
                    </a:solidFill>
                  </a:tcPr>
                </a:tc>
                <a:tc>
                  <a:txBody>
                    <a:bodyPr wrap="square"/>
                    <a:lstStyle/>
                    <a:p>
                      <a:pPr algn="l"/>
                      <a:r>
                        <a:rPr sz="1000" b="0">
                          <a:solidFill>
                            <a:srgbClr val="1B1B1B"/>
                          </a:solidFill>
                          <a:latin typeface="Calibri"/>
                        </a:rPr>
                        <a:t>custodian accepted</a:t>
                      </a:r>
                    </a:p>
                  </a:txBody>
                  <a:tcPr marL="73152" marR="73152" marT="36576" marB="36576" anchor="ctr">
                    <a:solidFill>
                      <a:srgbClr val="FFFFFF"/>
                    </a:solidFill>
                  </a:tcPr>
                </a:tc>
                <a:tc>
                  <a:txBody>
                    <a:bodyPr wrap="square"/>
                    <a:lstStyle/>
                    <a:p>
                      <a:pPr algn="l"/>
                      <a:r>
                        <a:rPr sz="1000" b="0">
                          <a:solidFill>
                            <a:srgbClr val="1B1B1B"/>
                          </a:solidFill>
                          <a:latin typeface="Calibri"/>
                        </a:rPr>
                        <a:t>Sign error in the manager pack, confirmed by the manager</a:t>
                      </a:r>
                    </a:p>
                  </a:txBody>
                  <a:tcPr marL="73152" marR="73152" marT="36576" marB="36576" anchor="ctr">
                    <a:solidFill>
                      <a:srgbClr val="FFFFFF"/>
                    </a:solidFill>
                  </a:tcPr>
                </a:tc>
              </a:tr>
              <a:tr h="384048">
                <a:tc>
                  <a:txBody>
                    <a:bodyPr wrap="square"/>
                    <a:lstStyle/>
                    <a:p>
                      <a:pPr algn="l"/>
                      <a:r>
                        <a:rPr sz="1000" b="0">
                          <a:solidFill>
                            <a:srgbClr val="1B1B1B"/>
                          </a:solidFill>
                          <a:latin typeface="Calibri"/>
                        </a:rPr>
                        <a:t>Diversified Growth</a:t>
                      </a:r>
                    </a:p>
                  </a:txBody>
                  <a:tcPr marL="73152" marR="73152" marT="36576" marB="36576" anchor="ctr">
                    <a:solidFill>
                      <a:srgbClr val="FAFAF8"/>
                    </a:solidFill>
                  </a:tcPr>
                </a:tc>
                <a:tc>
                  <a:txBody>
                    <a:bodyPr wrap="square"/>
                    <a:lstStyle/>
                    <a:p>
                      <a:pPr algn="l"/>
                      <a:r>
                        <a:rPr sz="1000" b="0">
                          <a:solidFill>
                            <a:srgbClr val="1B1B1B"/>
                          </a:solidFill>
                          <a:latin typeface="Calibri"/>
                        </a:rPr>
                        <a:t>2026-09</a:t>
                      </a:r>
                    </a:p>
                  </a:txBody>
                  <a:tcPr marL="73152" marR="73152" marT="36576" marB="36576" anchor="ctr">
                    <a:solidFill>
                      <a:srgbClr val="FAFAF8"/>
                    </a:solidFill>
                  </a:tcPr>
                </a:tc>
                <a:tc>
                  <a:txBody>
                    <a:bodyPr wrap="square"/>
                    <a:lstStyle/>
                    <a:p>
                      <a:pPr algn="l"/>
                      <a:r>
                        <a:rPr sz="1000" b="0">
                          <a:solidFill>
                            <a:srgbClr val="1B1B1B"/>
                          </a:solidFill>
                          <a:latin typeface="Calibri"/>
                        </a:rPr>
                        <a:t>missing manager</a:t>
                      </a:r>
                    </a:p>
                  </a:txBody>
                  <a:tcPr marL="73152" marR="73152" marT="36576" marB="36576" anchor="ctr">
                    <a:solidFill>
                      <a:srgbClr val="FAFAF8"/>
                    </a:solidFill>
                  </a:tcPr>
                </a:tc>
                <a:tc>
                  <a:txBody>
                    <a:bodyPr wrap="square"/>
                    <a:lstStyle/>
                    <a:p>
                      <a:pPr algn="r"/>
                      <a:r>
                        <a:rPr sz="1000" b="0">
                          <a:solidFill>
                            <a:srgbClr val="1B1B1B"/>
                          </a:solidFill>
                          <a:latin typeface="Calibri"/>
                        </a:rPr>
                        <a:t>-2.33%</a:t>
                      </a:r>
                    </a:p>
                  </a:txBody>
                  <a:tcPr marL="73152" marR="73152" marT="36576" marB="36576" anchor="ctr">
                    <a:solidFill>
                      <a:srgbClr val="FAFAF8"/>
                    </a:solidFill>
                  </a:tcPr>
                </a:tc>
                <a:tc>
                  <a:txBody>
                    <a:bodyPr wrap="square"/>
                    <a:lstStyle/>
                    <a:p>
                      <a:pPr algn="r"/>
                      <a:r>
                        <a:rPr sz="1000" b="0">
                          <a:solidFill>
                            <a:srgbClr val="1B1B1B"/>
                          </a:solidFill>
                          <a:latin typeface="Calibri"/>
                        </a:rPr>
                        <a:t>–</a:t>
                      </a:r>
                    </a:p>
                  </a:txBody>
                  <a:tcPr marL="73152" marR="73152" marT="36576" marB="36576" anchor="ctr">
                    <a:solidFill>
                      <a:srgbClr val="FAFAF8"/>
                    </a:solidFill>
                  </a:tcPr>
                </a:tc>
                <a:tc>
                  <a:txBody>
                    <a:bodyPr wrap="square"/>
                    <a:lstStyle/>
                    <a:p>
                      <a:pPr algn="l"/>
                      <a:r>
                        <a:rPr sz="1000" b="0">
                          <a:solidFill>
                            <a:srgbClr val="1B1B1B"/>
                          </a:solidFill>
                          <a:latin typeface="Calibri"/>
                        </a:rPr>
                        <a:t>custodian accepted</a:t>
                      </a:r>
                    </a:p>
                  </a:txBody>
                  <a:tcPr marL="73152" marR="73152" marT="36576" marB="36576" anchor="ctr">
                    <a:solidFill>
                      <a:srgbClr val="FAFAF8"/>
                    </a:solidFill>
                  </a:tcPr>
                </a:tc>
                <a:tc>
                  <a:txBody>
                    <a:bodyPr wrap="square"/>
                    <a:lstStyle/>
                    <a:p>
                      <a:pPr algn="l"/>
                      <a:r>
                        <a:rPr sz="1000" b="0">
                          <a:solidFill>
                            <a:srgbClr val="1B1B1B"/>
                          </a:solidFill>
                          <a:latin typeface="Calibri"/>
                        </a:rPr>
                        <a:t>Manager figure not yet published; custodian valuation used</a:t>
                      </a:r>
                    </a:p>
                  </a:txBody>
                  <a:tcPr marL="73152" marR="73152" marT="36576" marB="36576" anchor="ctr">
                    <a:solidFill>
                      <a:srgbClr val="FAFA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640080"/>
          </a:xfrm>
          <a:prstGeom prst="rect">
            <a:avLst/>
          </a:prstGeom>
          <a:noFill/>
        </p:spPr>
        <p:txBody>
          <a:bodyPr wrap="square" anchor="t" lIns="0" rIns="0">
            <a:spAutoFit/>
          </a:bodyPr>
          <a:lstStyle/>
          <a:p>
            <a:pPr algn="l"/>
            <a:r>
              <a:rPr sz="2600" b="1" i="0">
                <a:solidFill>
                  <a:srgbClr val="17324D"/>
                </a:solidFill>
                <a:latin typeface="Calibri"/>
              </a:rPr>
              <a:t>Appendix: where the headline numbers come from</a:t>
            </a:r>
          </a:p>
        </p:txBody>
      </p:sp>
      <p:sp>
        <p:nvSpPr>
          <p:cNvPr id="4" name="TextBox 3"/>
          <p:cNvSpPr txBox="1"/>
          <p:nvPr/>
        </p:nvSpPr>
        <p:spPr>
          <a:xfrm>
            <a:off x="548640" y="960120"/>
            <a:ext cx="11094415" cy="548640"/>
          </a:xfrm>
          <a:prstGeom prst="rect">
            <a:avLst/>
          </a:prstGeom>
          <a:noFill/>
        </p:spPr>
        <p:txBody>
          <a:bodyPr wrap="square" anchor="t" lIns="0" rIns="0">
            <a:spAutoFit/>
          </a:bodyPr>
          <a:lstStyle/>
          <a:p>
            <a:pPr algn="l"/>
            <a:r>
              <a:rPr sz="1300" b="0" i="0">
                <a:solidFill>
                  <a:srgbClr val="52514E"/>
                </a:solidFill>
                <a:latin typeface="Calibri"/>
              </a:rPr>
              <a:t>Every figure in this report is traceable: it is computed by a documented formula from other figures, down to individual cells in the custodian, manager, benchmark and actuarial files. The interactive (HTML) version lets you click any number to see its full derivation.</a:t>
            </a:r>
          </a:p>
        </p:txBody>
      </p:sp>
      <p:sp>
        <p:nvSpPr>
          <p:cNvPr id="5" name="TextBox 4"/>
          <p:cNvSpPr txBox="1"/>
          <p:nvPr/>
        </p:nvSpPr>
        <p:spPr>
          <a:xfrm>
            <a:off x="548640" y="6446520"/>
            <a:ext cx="8229600" cy="274320"/>
          </a:xfrm>
          <a:prstGeom prst="rect">
            <a:avLst/>
          </a:prstGeom>
          <a:noFill/>
        </p:spPr>
        <p:txBody>
          <a:bodyPr wrap="square" anchor="t" lIns="0" rIns="0">
            <a:spAutoFit/>
          </a:bodyPr>
          <a:lstStyle/>
          <a:p>
            <a:pPr algn="l"/>
            <a:r>
              <a:rPr sz="900" b="0" i="0">
                <a:solidFill>
                  <a:srgbClr val="8A8984"/>
                </a:solidFill>
                <a:latin typeface="Calibri"/>
              </a:rPr>
              <a:t>Northbridge Engineering Pension Scheme  |  Quarterly Investment Report  |  September 2026</a:t>
            </a:r>
          </a:p>
        </p:txBody>
      </p:sp>
      <p:sp>
        <p:nvSpPr>
          <p:cNvPr id="6" name="TextBox 5"/>
          <p:cNvSpPr txBox="1"/>
          <p:nvPr/>
        </p:nvSpPr>
        <p:spPr>
          <a:xfrm>
            <a:off x="10728655" y="6446520"/>
            <a:ext cx="914400" cy="274320"/>
          </a:xfrm>
          <a:prstGeom prst="rect">
            <a:avLst/>
          </a:prstGeom>
          <a:noFill/>
        </p:spPr>
        <p:txBody>
          <a:bodyPr wrap="square" anchor="t" lIns="0" rIns="0">
            <a:spAutoFit/>
          </a:bodyPr>
          <a:lstStyle/>
          <a:p>
            <a:pPr algn="r"/>
            <a:r>
              <a:rPr sz="900" b="0" i="0">
                <a:solidFill>
                  <a:srgbClr val="8A8984"/>
                </a:solidFill>
                <a:latin typeface="Calibri"/>
              </a:rPr>
              <a:t>17</a:t>
            </a:r>
          </a:p>
        </p:txBody>
      </p:sp>
      <p:graphicFrame>
        <p:nvGraphicFramePr>
          <p:cNvPr id="7" name="Table 6"/>
          <p:cNvGraphicFramePr>
            <a:graphicFrameLocks noGrp="1"/>
          </p:cNvGraphicFramePr>
          <p:nvPr/>
        </p:nvGraphicFramePr>
        <p:xfrm>
          <a:off x="548640" y="1691640"/>
          <a:ext cx="11094412" cy="3456432"/>
        </p:xfrm>
        <a:graphic>
          <a:graphicData uri="http://schemas.openxmlformats.org/drawingml/2006/table">
            <a:tbl>
              <a:tblPr firstRow="1" bandRow="1">
                <a:tableStyleId>{5C22544A-7EE6-4342-B048-85BDC9FD1C3A}</a:tableStyleId>
              </a:tblPr>
              <a:tblGrid>
                <a:gridCol w="1996994"/>
                <a:gridCol w="2884547"/>
                <a:gridCol w="2884547"/>
                <a:gridCol w="3328324"/>
              </a:tblGrid>
              <a:tr h="384048">
                <a:tc>
                  <a:txBody>
                    <a:bodyPr wrap="square"/>
                    <a:lstStyle/>
                    <a:p>
                      <a:pPr algn="l"/>
                      <a:r>
                        <a:rPr sz="1100" b="1">
                          <a:solidFill>
                            <a:srgbClr val="FFFFFF"/>
                          </a:solidFill>
                          <a:latin typeface="Calibri"/>
                        </a:rPr>
                        <a:t>Figure</a:t>
                      </a:r>
                    </a:p>
                  </a:txBody>
                  <a:tcPr marL="73152" marR="73152" marT="36576" marB="36576" anchor="ctr">
                    <a:solidFill>
                      <a:srgbClr val="17324D"/>
                    </a:solidFill>
                  </a:tcPr>
                </a:tc>
                <a:tc>
                  <a:txBody>
                    <a:bodyPr wrap="square"/>
                    <a:lstStyle/>
                    <a:p>
                      <a:pPr algn="r"/>
                      <a:r>
                        <a:rPr sz="1100" b="1">
                          <a:solidFill>
                            <a:srgbClr val="FFFFFF"/>
                          </a:solidFill>
                          <a:latin typeface="Calibri"/>
                        </a:rPr>
                        <a:t>Value</a:t>
                      </a:r>
                    </a:p>
                  </a:txBody>
                  <a:tcPr marL="73152" marR="73152" marT="36576" marB="36576" anchor="ctr">
                    <a:solidFill>
                      <a:srgbClr val="17324D"/>
                    </a:solidFill>
                  </a:tcPr>
                </a:tc>
                <a:tc>
                  <a:txBody>
                    <a:bodyPr wrap="square"/>
                    <a:lstStyle/>
                    <a:p>
                      <a:pPr algn="r"/>
                      <a:r>
                        <a:rPr sz="1100" b="1">
                          <a:solidFill>
                            <a:srgbClr val="FFFFFF"/>
                          </a:solidFill>
                          <a:latin typeface="Calibri"/>
                        </a:rPr>
                        <a:t>How it is calculated</a:t>
                      </a:r>
                    </a:p>
                  </a:txBody>
                  <a:tcPr marL="73152" marR="73152" marT="36576" marB="36576" anchor="ctr">
                    <a:solidFill>
                      <a:srgbClr val="17324D"/>
                    </a:solidFill>
                  </a:tcPr>
                </a:tc>
                <a:tc>
                  <a:txBody>
                    <a:bodyPr wrap="square"/>
                    <a:lstStyle/>
                    <a:p>
                      <a:pPr algn="r"/>
                      <a:r>
                        <a:rPr sz="1100" b="1">
                          <a:solidFill>
                            <a:srgbClr val="FFFFFF"/>
                          </a:solidFill>
                          <a:latin typeface="Calibri"/>
                        </a:rPr>
                        <a:t>Built from</a:t>
                      </a:r>
                    </a:p>
                  </a:txBody>
                  <a:tcPr marL="73152" marR="73152" marT="36576" marB="36576" anchor="ctr">
                    <a:solidFill>
                      <a:srgbClr val="17324D"/>
                    </a:solidFill>
                  </a:tcPr>
                </a:tc>
              </a:tr>
              <a:tr h="384048">
                <a:tc>
                  <a:txBody>
                    <a:bodyPr wrap="square"/>
                    <a:lstStyle/>
                    <a:p>
                      <a:pPr algn="l"/>
                      <a:r>
                        <a:rPr sz="1100" b="0">
                          <a:solidFill>
                            <a:srgbClr val="1B1B1B"/>
                          </a:solidFill>
                          <a:latin typeface="Calibri"/>
                        </a:rPr>
                        <a:t>Total market value at 2026-09-30</a:t>
                      </a:r>
                    </a:p>
                  </a:txBody>
                  <a:tcPr marL="73152" marR="73152" marT="36576" marB="36576" anchor="ctr">
                    <a:solidFill>
                      <a:srgbClr val="FFFFFF"/>
                    </a:solidFill>
                  </a:tcPr>
                </a:tc>
                <a:tc>
                  <a:txBody>
                    <a:bodyPr wrap="square"/>
                    <a:lstStyle/>
                    <a:p>
                      <a:pPr algn="r"/>
                      <a:r>
                        <a:rPr sz="1100" b="0">
                          <a:solidFill>
                            <a:srgbClr val="1B1B1B"/>
                          </a:solidFill>
                          <a:latin typeface="Calibri"/>
                        </a:rPr>
                        <a:t>£1.54bn</a:t>
                      </a:r>
                    </a:p>
                  </a:txBody>
                  <a:tcPr marL="73152" marR="73152" marT="36576" marB="36576" anchor="ctr">
                    <a:solidFill>
                      <a:srgbClr val="FFFFFF"/>
                    </a:solidFill>
                  </a:tcPr>
                </a:tc>
                <a:tc>
                  <a:txBody>
                    <a:bodyPr wrap="square"/>
                    <a:lstStyle/>
                    <a:p>
                      <a:pPr algn="l"/>
                      <a:r>
                        <a:rPr sz="1100" b="0">
                          <a:solidFill>
                            <a:srgbClr val="1B1B1B"/>
                          </a:solidFill>
                          <a:latin typeface="Calibri"/>
                        </a:rPr>
                        <a:t>Sum of mandate closing values</a:t>
                      </a:r>
                    </a:p>
                  </a:txBody>
                  <a:tcPr marL="73152" marR="73152" marT="36576" marB="36576" anchor="ctr">
                    <a:solidFill>
                      <a:srgbClr val="FFFFFF"/>
                    </a:solidFill>
                  </a:tcPr>
                </a:tc>
                <a:tc>
                  <a:txBody>
                    <a:bodyPr wrap="square"/>
                    <a:lstStyle/>
                    <a:p>
                      <a:pPr algn="l"/>
                      <a:r>
                        <a:rPr sz="1100" b="0">
                          <a:solidFill>
                            <a:srgbClr val="1B1B1B"/>
                          </a:solidFill>
                          <a:latin typeface="Calibri"/>
                        </a:rPr>
                        <a:t>6 input figures</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Total fund return, 3 months</a:t>
                      </a:r>
                    </a:p>
                  </a:txBody>
                  <a:tcPr marL="73152" marR="73152" marT="36576" marB="36576" anchor="ctr">
                    <a:solidFill>
                      <a:srgbClr val="FAFAF8"/>
                    </a:solidFill>
                  </a:tcPr>
                </a:tc>
                <a:tc>
                  <a:txBody>
                    <a:bodyPr wrap="square"/>
                    <a:lstStyle/>
                    <a:p>
                      <a:pPr algn="r"/>
                      <a:r>
                        <a:rPr sz="1100" b="0">
                          <a:solidFill>
                            <a:srgbClr val="1B1B1B"/>
                          </a:solidFill>
                          <a:latin typeface="Calibri"/>
                        </a:rPr>
                        <a:t>4.06%</a:t>
                      </a:r>
                    </a:p>
                  </a:txBody>
                  <a:tcPr marL="73152" marR="73152" marT="36576" marB="36576" anchor="ctr">
                    <a:solidFill>
                      <a:srgbClr val="FAFAF8"/>
                    </a:solidFill>
                  </a:tcPr>
                </a:tc>
                <a:tc>
                  <a:txBody>
                    <a:bodyPr wrap="square"/>
                    <a:lstStyle/>
                    <a:p>
                      <a:pPr algn="l"/>
                      <a:r>
                        <a:rPr sz="1100" b="0">
                          <a:solidFill>
                            <a:srgbClr val="1B1B1B"/>
                          </a:solidFill>
                          <a:latin typeface="Calibri"/>
                        </a:rPr>
                        <a:t>Chain-linked over 3 months: prod(1 + r_t) - 1</a:t>
                      </a:r>
                    </a:p>
                  </a:txBody>
                  <a:tcPr marL="73152" marR="73152" marT="36576" marB="36576" anchor="ctr">
                    <a:solidFill>
                      <a:srgbClr val="FAFAF8"/>
                    </a:solidFill>
                  </a:tcPr>
                </a:tc>
                <a:tc>
                  <a:txBody>
                    <a:bodyPr wrap="square"/>
                    <a:lstStyle/>
                    <a:p>
                      <a:pPr algn="l"/>
                      <a:r>
                        <a:rPr sz="1100" b="0">
                          <a:solidFill>
                            <a:srgbClr val="1B1B1B"/>
                          </a:solidFill>
                          <a:latin typeface="Calibri"/>
                        </a:rPr>
                        <a:t>3 input figures</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Total fund excess return, 3 months</a:t>
                      </a:r>
                    </a:p>
                  </a:txBody>
                  <a:tcPr marL="73152" marR="73152" marT="36576" marB="36576" anchor="ctr">
                    <a:solidFill>
                      <a:srgbClr val="FFFFFF"/>
                    </a:solidFill>
                  </a:tcPr>
                </a:tc>
                <a:tc>
                  <a:txBody>
                    <a:bodyPr wrap="square"/>
                    <a:lstStyle/>
                    <a:p>
                      <a:pPr algn="r"/>
                      <a:r>
                        <a:rPr sz="1100" b="0">
                          <a:solidFill>
                            <a:srgbClr val="1B1B1B"/>
                          </a:solidFill>
                          <a:latin typeface="Calibri"/>
                        </a:rPr>
                        <a:t>-0.25%</a:t>
                      </a:r>
                    </a:p>
                  </a:txBody>
                  <a:tcPr marL="73152" marR="73152" marT="36576" marB="36576" anchor="ctr">
                    <a:solidFill>
                      <a:srgbClr val="FFFFFF"/>
                    </a:solidFill>
                  </a:tcPr>
                </a:tc>
                <a:tc>
                  <a:txBody>
                    <a:bodyPr wrap="square"/>
                    <a:lstStyle/>
                    <a:p>
                      <a:pPr algn="l"/>
                      <a:r>
                        <a:rPr sz="1100" b="0">
                          <a:solidFill>
                            <a:srgbClr val="1B1B1B"/>
                          </a:solidFill>
                          <a:latin typeface="Calibri"/>
                        </a:rPr>
                        <a:t>Fund return - benchmark return (arithmetic difference)</a:t>
                      </a:r>
                    </a:p>
                  </a:txBody>
                  <a:tcPr marL="73152" marR="73152" marT="36576" marB="36576" anchor="ctr">
                    <a:solidFill>
                      <a:srgbClr val="FFFFFF"/>
                    </a:solidFill>
                  </a:tcPr>
                </a:tc>
                <a:tc>
                  <a:txBody>
                    <a:bodyPr wrap="square"/>
                    <a:lstStyle/>
                    <a:p>
                      <a:pPr algn="l"/>
                      <a:r>
                        <a:rPr sz="1100" b="0">
                          <a:solidFill>
                            <a:srgbClr val="1B1B1B"/>
                          </a:solidFill>
                          <a:latin typeface="Calibri"/>
                        </a:rPr>
                        <a:t>2 input figures</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Total fund return, 1 year</a:t>
                      </a:r>
                    </a:p>
                  </a:txBody>
                  <a:tcPr marL="73152" marR="73152" marT="36576" marB="36576" anchor="ctr">
                    <a:solidFill>
                      <a:srgbClr val="FAFAF8"/>
                    </a:solidFill>
                  </a:tcPr>
                </a:tc>
                <a:tc>
                  <a:txBody>
                    <a:bodyPr wrap="square"/>
                    <a:lstStyle/>
                    <a:p>
                      <a:pPr algn="r"/>
                      <a:r>
                        <a:rPr sz="1100" b="0">
                          <a:solidFill>
                            <a:srgbClr val="1B1B1B"/>
                          </a:solidFill>
                          <a:latin typeface="Calibri"/>
                        </a:rPr>
                        <a:t>11.76%</a:t>
                      </a:r>
                    </a:p>
                  </a:txBody>
                  <a:tcPr marL="73152" marR="73152" marT="36576" marB="36576" anchor="ctr">
                    <a:solidFill>
                      <a:srgbClr val="FAFAF8"/>
                    </a:solidFill>
                  </a:tcPr>
                </a:tc>
                <a:tc>
                  <a:txBody>
                    <a:bodyPr wrap="square"/>
                    <a:lstStyle/>
                    <a:p>
                      <a:pPr algn="l"/>
                      <a:r>
                        <a:rPr sz="1100" b="0">
                          <a:solidFill>
                            <a:srgbClr val="1B1B1B"/>
                          </a:solidFill>
                          <a:latin typeface="Calibri"/>
                        </a:rPr>
                        <a:t>Chain-linked over 12 months: prod(1 + r_t) - 1</a:t>
                      </a:r>
                    </a:p>
                  </a:txBody>
                  <a:tcPr marL="73152" marR="73152" marT="36576" marB="36576" anchor="ctr">
                    <a:solidFill>
                      <a:srgbClr val="FAFAF8"/>
                    </a:solidFill>
                  </a:tcPr>
                </a:tc>
                <a:tc>
                  <a:txBody>
                    <a:bodyPr wrap="square"/>
                    <a:lstStyle/>
                    <a:p>
                      <a:pPr algn="l"/>
                      <a:r>
                        <a:rPr sz="1100" b="0">
                          <a:solidFill>
                            <a:srgbClr val="1B1B1B"/>
                          </a:solidFill>
                          <a:latin typeface="Calibri"/>
                        </a:rPr>
                        <a:t>12 input figures</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Total active return explained, 1 year</a:t>
                      </a:r>
                    </a:p>
                  </a:txBody>
                  <a:tcPr marL="73152" marR="73152" marT="36576" marB="36576" anchor="ctr">
                    <a:solidFill>
                      <a:srgbClr val="FFFFFF"/>
                    </a:solidFill>
                  </a:tcPr>
                </a:tc>
                <a:tc>
                  <a:txBody>
                    <a:bodyPr wrap="square"/>
                    <a:lstStyle/>
                    <a:p>
                      <a:pPr algn="r"/>
                      <a:r>
                        <a:rPr sz="1100" b="0">
                          <a:solidFill>
                            <a:srgbClr val="1B1B1B"/>
                          </a:solidFill>
                          <a:latin typeface="Calibri"/>
                        </a:rPr>
                        <a:t>-0.68%</a:t>
                      </a:r>
                    </a:p>
                  </a:txBody>
                  <a:tcPr marL="73152" marR="73152" marT="36576" marB="36576" anchor="ctr">
                    <a:solidFill>
                      <a:srgbClr val="FFFFFF"/>
                    </a:solidFill>
                  </a:tcPr>
                </a:tc>
                <a:tc>
                  <a:txBody>
                    <a:bodyPr wrap="square"/>
                    <a:lstStyle/>
                    <a:p>
                      <a:pPr algn="l"/>
                      <a:r>
                        <a:rPr sz="1100" b="0">
                          <a:solidFill>
                            <a:srgbClr val="1B1B1B"/>
                          </a:solidFill>
                          <a:latin typeface="Calibri"/>
                        </a:rPr>
                        <a:t>Allocation + selection + interaction; equals compounded fund return - compounded benchmark return</a:t>
                      </a:r>
                    </a:p>
                  </a:txBody>
                  <a:tcPr marL="73152" marR="73152" marT="36576" marB="36576" anchor="ctr">
                    <a:solidFill>
                      <a:srgbClr val="FFFFFF"/>
                    </a:solidFill>
                  </a:tcPr>
                </a:tc>
                <a:tc>
                  <a:txBody>
                    <a:bodyPr wrap="square"/>
                    <a:lstStyle/>
                    <a:p>
                      <a:pPr algn="l"/>
                      <a:r>
                        <a:rPr sz="1100" b="0">
                          <a:solidFill>
                            <a:srgbClr val="1B1B1B"/>
                          </a:solidFill>
                          <a:latin typeface="Calibri"/>
                        </a:rPr>
                        <a:t>3 input figures</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Value of liabilities (PV of projected benefits)</a:t>
                      </a:r>
                    </a:p>
                  </a:txBody>
                  <a:tcPr marL="73152" marR="73152" marT="36576" marB="36576" anchor="ctr">
                    <a:solidFill>
                      <a:srgbClr val="FAFAF8"/>
                    </a:solidFill>
                  </a:tcPr>
                </a:tc>
                <a:tc>
                  <a:txBody>
                    <a:bodyPr wrap="square"/>
                    <a:lstStyle/>
                    <a:p>
                      <a:pPr algn="r"/>
                      <a:r>
                        <a:rPr sz="1100" b="0">
                          <a:solidFill>
                            <a:srgbClr val="1B1B1B"/>
                          </a:solidFill>
                          <a:latin typeface="Calibri"/>
                        </a:rPr>
                        <a:t>£1.65bn</a:t>
                      </a:r>
                    </a:p>
                  </a:txBody>
                  <a:tcPr marL="73152" marR="73152" marT="36576" marB="36576" anchor="ctr">
                    <a:solidFill>
                      <a:srgbClr val="FAFAF8"/>
                    </a:solidFill>
                  </a:tcPr>
                </a:tc>
                <a:tc>
                  <a:txBody>
                    <a:bodyPr wrap="square"/>
                    <a:lstStyle/>
                    <a:p>
                      <a:pPr algn="l"/>
                      <a:r>
                        <a:rPr sz="1100" b="0">
                          <a:solidFill>
                            <a:srgbClr val="1B1B1B"/>
                          </a:solidFill>
                          <a:latin typeface="Calibri"/>
                        </a:rPr>
                        <a:t>Sum of cashflow_t x discount factor_t, zero curve bootstrapped from government par yields</a:t>
                      </a:r>
                    </a:p>
                  </a:txBody>
                  <a:tcPr marL="73152" marR="73152" marT="36576" marB="36576" anchor="ctr">
                    <a:solidFill>
                      <a:srgbClr val="FAFAF8"/>
                    </a:solidFill>
                  </a:tcPr>
                </a:tc>
                <a:tc>
                  <a:txBody>
                    <a:bodyPr wrap="square"/>
                    <a:lstStyle/>
                    <a:p>
                      <a:pPr algn="l"/>
                      <a:r>
                        <a:rPr sz="1100" b="0">
                          <a:solidFill>
                            <a:srgbClr val="1B1B1B"/>
                          </a:solidFill>
                          <a:latin typeface="Calibri"/>
                        </a:rPr>
                        <a:t>liability_cashflows_actuary_2026.csv (70 annual cashflows, dataset v4); gilt_par_curve_2026-09-30.csv (as of 2026-09-30, dataset v5)</a:t>
                      </a:r>
                    </a:p>
                  </a:txBody>
                  <a:tcPr marL="73152" marR="73152" marT="36576" marB="36576" anchor="ctr">
                    <a:solidFill>
                      <a:srgbClr val="FAFAF8"/>
                    </a:solidFill>
                  </a:tcPr>
                </a:tc>
              </a:tr>
              <a:tr h="384048">
                <a:tc>
                  <a:txBody>
                    <a:bodyPr wrap="square"/>
                    <a:lstStyle/>
                    <a:p>
                      <a:pPr algn="l"/>
                      <a:r>
                        <a:rPr sz="1100" b="0">
                          <a:solidFill>
                            <a:srgbClr val="1B1B1B"/>
                          </a:solidFill>
                          <a:latin typeface="Calibri"/>
                        </a:rPr>
                        <a:t>Funding ratio</a:t>
                      </a:r>
                    </a:p>
                  </a:txBody>
                  <a:tcPr marL="73152" marR="73152" marT="36576" marB="36576" anchor="ctr">
                    <a:solidFill>
                      <a:srgbClr val="FFFFFF"/>
                    </a:solidFill>
                  </a:tcPr>
                </a:tc>
                <a:tc>
                  <a:txBody>
                    <a:bodyPr wrap="square"/>
                    <a:lstStyle/>
                    <a:p>
                      <a:pPr algn="r"/>
                      <a:r>
                        <a:rPr sz="1100" b="0">
                          <a:solidFill>
                            <a:srgbClr val="1B1B1B"/>
                          </a:solidFill>
                          <a:latin typeface="Calibri"/>
                        </a:rPr>
                        <a:t>93.40%</a:t>
                      </a:r>
                    </a:p>
                  </a:txBody>
                  <a:tcPr marL="73152" marR="73152" marT="36576" marB="36576" anchor="ctr">
                    <a:solidFill>
                      <a:srgbClr val="FFFFFF"/>
                    </a:solidFill>
                  </a:tcPr>
                </a:tc>
                <a:tc>
                  <a:txBody>
                    <a:bodyPr wrap="square"/>
                    <a:lstStyle/>
                    <a:p>
                      <a:pPr algn="l"/>
                      <a:r>
                        <a:rPr sz="1100" b="0">
                          <a:solidFill>
                            <a:srgbClr val="1B1B1B"/>
                          </a:solidFill>
                          <a:latin typeface="Calibri"/>
                        </a:rPr>
                        <a:t>Assets / liabilities</a:t>
                      </a:r>
                    </a:p>
                  </a:txBody>
                  <a:tcPr marL="73152" marR="73152" marT="36576" marB="36576" anchor="ctr">
                    <a:solidFill>
                      <a:srgbClr val="FFFFFF"/>
                    </a:solidFill>
                  </a:tcPr>
                </a:tc>
                <a:tc>
                  <a:txBody>
                    <a:bodyPr wrap="square"/>
                    <a:lstStyle/>
                    <a:p>
                      <a:pPr algn="l"/>
                      <a:r>
                        <a:rPr sz="1100" b="0">
                          <a:solidFill>
                            <a:srgbClr val="1B1B1B"/>
                          </a:solidFill>
                          <a:latin typeface="Calibri"/>
                        </a:rPr>
                        <a:t>2 input figures</a:t>
                      </a:r>
                    </a:p>
                  </a:txBody>
                  <a:tcPr marL="73152" marR="73152" marT="36576" marB="36576" anchor="ctr">
                    <a:solidFill>
                      <a:srgbClr val="FFFFFF"/>
                    </a:solidFill>
                  </a:tcPr>
                </a:tc>
              </a:tr>
              <a:tr h="384048">
                <a:tc>
                  <a:txBody>
                    <a:bodyPr wrap="square"/>
                    <a:lstStyle/>
                    <a:p>
                      <a:pPr algn="l"/>
                      <a:r>
                        <a:rPr sz="1100" b="0">
                          <a:solidFill>
                            <a:srgbClr val="1B1B1B"/>
                          </a:solidFill>
                          <a:latin typeface="Calibri"/>
                        </a:rPr>
                        <a:t>Interest-rate hedge ratio</a:t>
                      </a:r>
                    </a:p>
                  </a:txBody>
                  <a:tcPr marL="73152" marR="73152" marT="36576" marB="36576" anchor="ctr">
                    <a:solidFill>
                      <a:srgbClr val="FAFAF8"/>
                    </a:solidFill>
                  </a:tcPr>
                </a:tc>
                <a:tc>
                  <a:txBody>
                    <a:bodyPr wrap="square"/>
                    <a:lstStyle/>
                    <a:p>
                      <a:pPr algn="r"/>
                      <a:r>
                        <a:rPr sz="1100" b="0">
                          <a:solidFill>
                            <a:srgbClr val="1B1B1B"/>
                          </a:solidFill>
                          <a:latin typeface="Calibri"/>
                        </a:rPr>
                        <a:t>81.96%</a:t>
                      </a:r>
                    </a:p>
                  </a:txBody>
                  <a:tcPr marL="73152" marR="73152" marT="36576" marB="36576" anchor="ctr">
                    <a:solidFill>
                      <a:srgbClr val="FAFAF8"/>
                    </a:solidFill>
                  </a:tcPr>
                </a:tc>
                <a:tc>
                  <a:txBody>
                    <a:bodyPr wrap="square"/>
                    <a:lstStyle/>
                    <a:p>
                      <a:pPr algn="l"/>
                      <a:r>
                        <a:rPr sz="1100" b="0">
                          <a:solidFill>
                            <a:srgbClr val="1B1B1B"/>
                          </a:solidFill>
                          <a:latin typeface="Calibri"/>
                        </a:rPr>
                        <a:t>Asset PV01 / liability PV01</a:t>
                      </a:r>
                    </a:p>
                  </a:txBody>
                  <a:tcPr marL="73152" marR="73152" marT="36576" marB="36576" anchor="ctr">
                    <a:solidFill>
                      <a:srgbClr val="FAFAF8"/>
                    </a:solidFill>
                  </a:tcPr>
                </a:tc>
                <a:tc>
                  <a:txBody>
                    <a:bodyPr wrap="square"/>
                    <a:lstStyle/>
                    <a:p>
                      <a:pPr algn="l"/>
                      <a:r>
                        <a:rPr sz="1100" b="0">
                          <a:solidFill>
                            <a:srgbClr val="1B1B1B"/>
                          </a:solidFill>
                          <a:latin typeface="Calibri"/>
                        </a:rPr>
                        <a:t>2 input figures</a:t>
                      </a:r>
                    </a:p>
                  </a:txBody>
                  <a:tcPr marL="73152" marR="73152" marT="36576" marB="36576" anchor="ctr">
                    <a:solidFill>
                      <a:srgbClr val="FAFA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